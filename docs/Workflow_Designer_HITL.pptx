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6" r:id="rId19"/>
    <p:sldId id="277" r:id="rId20"/>
    <p:sldId id="278" r:id="rId21"/>
    <p:sldId id="279" r:id="rId22"/>
    <p:sldId id="280" r:id="rId23"/>
    <p:sldId id="281" r:id="rId24"/>
    <p:sldId id="282" r:id="rId25"/>
    <p:sldId id="283"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5" d="100"/>
          <a:sy n="10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15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08: Workflow Designer &amp; Human-in-the-Loop.
This module bridges the gap between AI-driven automation and human oversight. In financial services, not every decision can be delegated to AI — regulatory requirements, risk thresholds, and fiduciary obligations demand that certain actions must involve a qualified human.
Module 08 teaches you to build enterprise-grade approval workflows using Power Automate's Workflow Designer, integrate those workflows with the Copilot Studio agents you have built, and capture every approval decision in Dataverse for a complete audit trail.
This module is critical for BFSI environments where compliance, accountability, and audit trails are non-negotiable requirements.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structured around understanding human-in-the-loop patterns and then building a complete approval workflow.
The core value proposition is bridging AI automation with human oversight. In BFSI, this isn't optional — it's a regulatory and operational requirement.
The theory section covers HITL concepts, Power Automate approval architecture, multi-level patterns, and the integration with Copilot Studio agents.
The lab is hands-on: you'll build a multi-level claims approval workflow that routes based on claim amount, captures decisions in Dataverse, and integrates with the agents you've built in previous modules.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five learning objectives for this module.
First, you'll understand what HITL means and why it's essential — not just a nice-to-have, but a regulatory requirement in BFSI.
Second, you'll learn to design approval workflows with different patterns: single approver, sequential multi-level chains, and parallel approvals.
Third, you'll configure Power Automate's Approvals connector with custom options — because "Approve/Reject" is often too simplistic for real BFSI decisions.
Fourth, you'll build an actual workflow with Indian insurance thresholds — this is directly applicable to your work.
Fifth, you'll connect everything to Copilot Studio — the agent triggers the approval, and the approval outcome flows 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remaining five learning objectives.
Creating a Dataverse audit log is critical for BFSI compliance — regulators will ask for proof of every decision.
You'll compare three HITL approaches because Power Automate Approvals isn't always the right choice — sometimes Adaptive Cards or Agent Flow requests are more appropriate.
Escalation and timeout policies ensure that approvals don't get stuck — an unanswered approval is a compliance risk.
The end-to-end scenario ties everything together: agent triage from Module 07, approval workflow from this module, and updates back to the agent.
Finally, testing and debugging are essential skills — you need to know how to trace issues through the approval chain.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is split into one hour of theory and two hours of hands-on lab.
The theory covers HITL patterns, the Power Automate approval architecture, and BFSI-specific compliance requirements.
The lab builds a real claims approval workflow with multi-level routing based on claim amounts.
Prerequisites are important: you need the agent from Modules 06-07 working, the Dataverse tables populated, a Power Automate Premium licence for the Approvals connector, and Teams for notifications.
If anyone is missing prerequisites, speak up now so we can address it before the lab.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conceptual foundations of human-in-the-loop.
In this section, we'll cover what HITL is, why it matters in BFSI, and the spectrum of human involvement from full automation to mandatory multi-approver chains.
Understanding these concepts is essential before we dive into the technical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Human-in-the-loop is not about AI being "not good enough" — it's about proper governance in high-stakes environments.
HITL serves three critical functions:
First, Decision Authority. In BFSI, certain decisions legally cannot be made by AI. IRDAI guidelines, for example, require human approval for claims above specific thresholds. The AI can recommend, but a human must decide.
Second, Quality Assurance. Even when AI can technically make a decision, human review provides a safety net. AML regulations often require human review of flagged transactions before action is taken.
Third, Accountability. Every material decision needs an identifiable human owner. When regulators or auditors ask "who approved this?", there must be a clear answer. AI doesn't satisfy this requirement.
These aren't obstacles to automation — they're the foundation of trustworthy AI systems in regulated industries.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HITL spectrum helps you design appropriate controls for different risk levels.
At the LOW RISK end, full automation is appropriate. Sending a claim acknowledgement email doesn't need human approval — the AI does it, and auditors can review later if needed.
MEDIUM RISK is the "AI recommends, human approves" pattern. For standard claims in the ₹1-10 lakh range, the AI triages and recommends, but a human adjuster makes the final call.
HIGH RISK is "human decides, AI assists." For high-value claims above ₹10 lakh, the AI gathers all the relevant data and presents it clearly, but the human has full decision authority.
CRITICAL requires mandatory multi-approver chains. For claims above ₹25 lakh, you might need sequential approval from Adjuster → Claims Manager → Head of Claims → CFO.
The key insight: match your HITL pattern to the risk level of the action. Over-controlling low-risk actions wastes human time. Under-controlling high-risk actions creates compliance exposure.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the technical architecture of Power Automate Approvals.
This is the enterprise-grade mechanism for implementing HITL patterns in the Power Platform. It handles the complete approval lifecycle: request creation, routing, notification, response capture, and outcome processing.
Understanding this architecture is essential for building robust approval workflows.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six key components of Power Automate Approvals.
The Approval Request is the structured message sent to approvers. It's created using the "Start and wait for an approval" action in Power Automate.
The Approval Type determines the routing pattern — we'll cover the four types on the next slide.
Approvers are specified by email address, but importantly, this can be dynamic. You can look up the appropriate approver from Dataverse based on claim amount, region, or any other criteria.
Notification Channels are powerful — approvers receive notifications in Teams, via email, AND in the Power Automate mobile app. This triple-channel approach ensures approvers don't miss requests.
Response Options can be standard (Approve/Reject) or custom. Custom responses are particularly valuable in BFSI where you might need options like "Approve", "Reject", "Request More Information", or "Escalate to Fraud Team".
Outcome Processing is where your flow continues after the decision. You'll use branching logic to handle different responses appropriately.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each approval type with BFSI examples.
Approve/Reject is the simplest — one approver, two choices. Use this for standard claims where an adjuster just needs to approve or reject.
First to Respond sends to multiple approvers, and the first response wins. This is great for urgent situations where you need any available senior person to act quickly. If you send to three senior adjusters, whoever responds first handles it.
Everyone Must Approve requires all specified approvers to approve for the workflow to continue. Use this when you need multiple perspectives — for example, both the Claims Manager and the Compliance Officer must independently approve high-value claims.
Custom Responses let you define more than two options. This is particularly powerful for BFSI. A fraud investigation approval might have four options: "Clear — No Fraud", "Confirm Fraud", "Escalate to Special Investigations", or "Hold for Additional Documentation". Standard Approve/Reject can't capture this nuance.
The key insight: don't force your business process into Approve/Reject when Custom Responses would be more appropriate.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Multi-level approvals are the norm in BFSI, not the exception.
Sequential approval chains route through a hierarchy: Level 1 approves first, then Level 2 receives the request, and so on. If any level rejects, the chain stops — you don't bother higher levels with already-rejected requests.
Parallel approvals send to multiple people simultaneously. This is used when you need independent perspectives — for example, both the Claims Manager (business decision) and Compliance Officer (regulatory check) must approve independently.
You can also combine these patterns. For very high-value claims, you might have parallel approval at one level (Claims Manager AND Compliance), followed by sequential escalation (then to Head of Claims, then to CFO).
The BFSI example at the bottom shows typical Indian insurance claim routing thresholds:
- Claims under ₹2 lakh are auto-approved — low risk, high volume
- Claims ₹2-8 lakh need single adjuster approval
- Claims ₹8-25 lakh need two-level sequential
- Claims above ₹25 lakh need three-level sequential
These thresholds should be configured based on your organisation's risk appetite and regulatory requirements.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Dataverse approval log is critical for BFSI compliance. Let me explain why and what it captures.
Power Automate has built-in approval tables, but they're designed for the approval workflow mechanics, not for business reporting. A dedicated Dataverse table gives you full control over what's captured and how it's reported.
The schema shown here captures everything an auditor would ask for:
ApprovalLogId provides a unique, tamper-resistant record identifier.
ClaimId links to the specific claim being approved — you can trace any claim to its full approval history.
ApprovalLevel captures where in the chain this approval occurred — was it Level 1, Level 2, etc.?
ApproverId records who was assigned to approve and who actually approved.
Decision captures the outcome — not just Approved/Rejected, but also Escalated or other custom responses.
DecisionTimestamp is critical for SLA monitoring and audit evidence.
Rationale captures why the approver made their decision — this is often required for regulatory compliance.
SLAMet is a calculated field that flags whether the response was within the required timeframe.
In the lab, you'll create this table and configure your approval workflow to write to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compare the three HITL approaches available in Power Platform.
Power Automate Approvals is the enterprise-grade option. It provides multi-level routing, SLA enforcement with escalation, triple-channel notifications (Teams, Email, Mobile), and a full audit trail. Use this for formal approvals where compliance matters — which is most of BFSI.
Agent Flow Request for Information is lightweight and stays within the agent context. You learned about this in Module 07. The flow pauses, requests human input, and resumes. Use this for mid-flow clarifications or simple confirmations that don't need formal approval chains.
Adaptive Cards in Topics provide real-time, conversational HITL. The agent presents a rich card with options, and the user responds immediately. No workflow overhead. Use this for real-time choices during the conversation — like asking the user to confirm their selection before proceeding.
The key insight at the bottom: production BFSI systems typically use all three approaches at different points. You might use Adaptive Cards for immediate user choices, Agent Flow Request for lightweight confirmations, and Power Automate Approvals for formal, audited decisions.
This module focuses on Power Automate Approvals because it's the only approach that provides the enterprise-grade features needed for formal BFSI approvals.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and timeout policies are critical for BFSI — you cannot have approvals sitting unanswered indefinitely.
Let me walk through a typical escalation ladder:
At 50% of SLA elapsed — say, 4 hours into an 8-hour SLA — send a reminder to the original approver. "You have a pending approval that needs your attention."
At 75% of SLA — 6 hours in — escalate by adding the approver's manager as an additional approver. Now both can respond, increasing the chances of timely action.
At 100% of SLA — the deadline — reassign to a backup approver and cancel the original assignment. The original approver has had their chance.
Finally, if even the escalated approval times out, take automatic action. In most BFSI cases, this means auto-rejecting with a clear reason: "Approval Timeout — No Response Within SLA." The claim can be resubmitted, but you've documented that the timeout occurred.
The implementation column shows how to build this: scheduled flows that check for pending approvals, update approvers, and take action based on elapsed time.
One key point: auto-rejection is a last resort. Your escalation ladder should be designed so that someone responds before this happens. But having the auto-action as a safety net ensures nothing gets stuck forever.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integration architecture that ties together everything you've built across modules.
Step 1: The agent receives the claim through conversation. This is the Copilot Studio agent you built in Module 06.
Step 2: The Agent Flow from Module 07 triages the claim — classifies it by priority, determines the appropriate approval level based on amount.
Step 3: The agent calls a Power Automate approval flow. This is the "Call a flow" action in Copilot Studio.
Step 4: The human approver receives the request in Teams, email, and mobile app. They review the context and make a decision.
Step 5: The approval outcome is written to the Dataverse audit log we discussed earlier.
Step 6: The agent sends outcome notifications to relevant stakeholders — the claimant, the adjuster, anyone else who needs to know.
The colour coding on the right shows who owns each step: Copilot Studio (cyan), Agent Flow (green), Power Automate (green), Human (amber).
This architecture ensures that the agent does the fast, intelligent work — triage and classification. The approval workflow handles the compliance-critical human decision. And the agent resumes for notification and follow-up.
You'll build this complete flow in the lab.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test your understanding of the module with three quick questions. Think before you click forward!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to Module 09, you'll move from single-agent to multi-agent architectures.
You'll build an orchestrator agent that coordinates multiple specialist agents — a Claims Agent, Policy Agent, and Customer Agent. They'll share a common Dataverse memory layer via MCP.
The approval workflow you built in this module will integrate with the multi-agent system. When the orchestrator delegates a high-value claim to the Claims Agent, and the Claims Agent determines approval is needed, it will trigger the approval workflow you built today.
So keep everything you've built — it's all going to connect in Module 09.</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throughout Module 08: Workflow Designer &amp; Human-in-the-Loop.
You now have the skills to build enterprise-grade approval workflows that integrate with your AI agents. This is a critical capability for any BFSI deployment.
If you have questions, reach out during the lab or post in the Teams channel.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109728"/>
          </a:xfrm>
          <a:prstGeom prst="rect">
            <a:avLst/>
          </a:prstGeom>
          <a:solidFill>
            <a:srgbClr val="0891B2"/>
          </a:solidFill>
          <a:ln/>
        </p:spPr>
        <p:txBody>
          <a:bodyPr/>
          <a:lstStyle/>
          <a:p>
            <a:endParaRPr lang="en-IN"/>
          </a:p>
        </p:txBody>
      </p:sp>
      <p:sp>
        <p:nvSpPr>
          <p:cNvPr id="3" name="Shape 1"/>
          <p:cNvSpPr/>
          <p:nvPr/>
        </p:nvSpPr>
        <p:spPr>
          <a:xfrm>
            <a:off x="7315200" y="109728"/>
            <a:ext cx="1828800" cy="54864"/>
          </a:xfrm>
          <a:prstGeom prst="rect">
            <a:avLst/>
          </a:prstGeom>
          <a:solidFill>
            <a:srgbClr val="0E7490"/>
          </a:solidFill>
          <a:ln/>
        </p:spPr>
        <p:txBody>
          <a:bodyPr/>
          <a:lstStyle/>
          <a:p>
            <a:endParaRPr lang="en-IN"/>
          </a:p>
        </p:txBody>
      </p:sp>
      <p:sp>
        <p:nvSpPr>
          <p:cNvPr id="4" name="Text 2"/>
          <p:cNvSpPr/>
          <p:nvPr/>
        </p:nvSpPr>
        <p:spPr>
          <a:xfrm>
            <a:off x="296091" y="1037771"/>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MODULE 08</a:t>
            </a:r>
            <a:endParaRPr lang="en-US" sz="1300" dirty="0"/>
          </a:p>
        </p:txBody>
      </p:sp>
      <p:sp>
        <p:nvSpPr>
          <p:cNvPr id="5" name="Text 3"/>
          <p:cNvSpPr/>
          <p:nvPr/>
        </p:nvSpPr>
        <p:spPr>
          <a:xfrm>
            <a:off x="296091" y="1494971"/>
            <a:ext cx="6400800" cy="1280160"/>
          </a:xfrm>
          <a:prstGeom prst="rect">
            <a:avLst/>
          </a:prstGeom>
          <a:noFill/>
          <a:ln/>
        </p:spPr>
        <p:txBody>
          <a:bodyPr wrap="square" rtlCol="0" anchor="ctr"/>
          <a:lstStyle/>
          <a:p>
            <a:pPr marL="0" indent="0">
              <a:buNone/>
            </a:pPr>
            <a:r>
              <a:rPr lang="en-US" sz="3600" b="1" dirty="0">
                <a:solidFill>
                  <a:srgbClr val="FFFFFF"/>
                </a:solidFill>
                <a:latin typeface="Segoe UI" pitchFamily="34" charset="0"/>
                <a:ea typeface="Segoe UI" pitchFamily="34" charset="-122"/>
                <a:cs typeface="Segoe UI" pitchFamily="34" charset="-120"/>
              </a:rPr>
              <a:t>Workflow Designer &amp;</a:t>
            </a:r>
            <a:endParaRPr lang="en-US" sz="3600" dirty="0"/>
          </a:p>
          <a:p>
            <a:pPr marL="0" indent="0">
              <a:buNone/>
            </a:pPr>
            <a:r>
              <a:rPr lang="en-US" sz="3600" b="1" dirty="0">
                <a:solidFill>
                  <a:srgbClr val="FFFFFF"/>
                </a:solidFill>
                <a:latin typeface="Segoe UI" pitchFamily="34" charset="0"/>
                <a:ea typeface="Segoe UI" pitchFamily="34" charset="-122"/>
                <a:cs typeface="Segoe UI" pitchFamily="34" charset="-120"/>
              </a:rPr>
              <a:t>Human-in-the-Loop</a:t>
            </a:r>
            <a:endParaRPr lang="en-US" sz="3600" dirty="0"/>
          </a:p>
        </p:txBody>
      </p:sp>
      <p:sp>
        <p:nvSpPr>
          <p:cNvPr id="6" name="Text 4"/>
          <p:cNvSpPr/>
          <p:nvPr/>
        </p:nvSpPr>
        <p:spPr>
          <a:xfrm>
            <a:off x="296091" y="2820851"/>
            <a:ext cx="6400800" cy="457200"/>
          </a:xfrm>
          <a:prstGeom prst="rect">
            <a:avLst/>
          </a:prstGeom>
          <a:noFill/>
          <a:ln/>
        </p:spPr>
        <p:txBody>
          <a:bodyPr wrap="square" rtlCol="0" anchor="ctr"/>
          <a:lstStyle/>
          <a:p>
            <a:pPr marL="0" indent="0">
              <a:buNone/>
            </a:pPr>
            <a:r>
              <a:rPr lang="en-US" sz="1800" dirty="0">
                <a:solidFill>
                  <a:srgbClr val="22D3EE"/>
                </a:solidFill>
                <a:latin typeface="Segoe UI" pitchFamily="34" charset="0"/>
                <a:ea typeface="Segoe UI" pitchFamily="34" charset="-122"/>
                <a:cs typeface="Segoe UI" pitchFamily="34" charset="-120"/>
              </a:rPr>
              <a:t>Building Enterprise-Grade Approval Workflows with Power Automate</a:t>
            </a:r>
            <a:endParaRPr lang="en-US" sz="1800" dirty="0"/>
          </a:p>
        </p:txBody>
      </p:sp>
      <p:sp>
        <p:nvSpPr>
          <p:cNvPr id="7" name="Text 5"/>
          <p:cNvSpPr/>
          <p:nvPr/>
        </p:nvSpPr>
        <p:spPr>
          <a:xfrm>
            <a:off x="296091" y="3506651"/>
            <a:ext cx="5486400" cy="365760"/>
          </a:xfrm>
          <a:prstGeom prst="rect">
            <a:avLst/>
          </a:prstGeom>
          <a:noFill/>
          <a:ln/>
        </p:spPr>
        <p:txBody>
          <a:bodyPr wrap="square" rtlCol="0" anchor="ctr"/>
          <a:lstStyle/>
          <a:p>
            <a:pPr marL="0" indent="0">
              <a:buNone/>
            </a:pPr>
            <a:r>
              <a:rPr lang="en-US" sz="1400" dirty="0">
                <a:solidFill>
                  <a:srgbClr val="94A3B8"/>
                </a:solidFill>
                <a:latin typeface="Segoe UI" pitchFamily="34" charset="0"/>
                <a:ea typeface="Segoe UI" pitchFamily="34" charset="-122"/>
                <a:cs typeface="Segoe UI" pitchFamily="34" charset="-120"/>
              </a:rPr>
              <a:t>Agentic AI in Power</a:t>
            </a:r>
            <a:endParaRPr lang="en-US" sz="1400" dirty="0"/>
          </a:p>
        </p:txBody>
      </p:sp>
      <p:sp>
        <p:nvSpPr>
          <p:cNvPr id="8" name="Text 6"/>
          <p:cNvSpPr/>
          <p:nvPr/>
        </p:nvSpPr>
        <p:spPr>
          <a:xfrm>
            <a:off x="296091" y="4842111"/>
            <a:ext cx="4572000" cy="274320"/>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CONFIDENTIAL – For Training Purposes Only</a:t>
            </a:r>
            <a:endParaRPr lang="en-US" sz="900" dirty="0"/>
          </a:p>
        </p:txBody>
      </p:sp>
      <p:sp>
        <p:nvSpPr>
          <p:cNvPr id="9" name="Text 19">
            <a:extLst>
              <a:ext uri="{FF2B5EF4-FFF2-40B4-BE49-F238E27FC236}">
                <a16:creationId xmlns:a16="http://schemas.microsoft.com/office/drawing/2014/main" id="{8E4EB2CC-32FB-4D92-001E-C94255735810}"/>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 / 28</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Module Overview</a:t>
            </a:r>
            <a:endParaRPr lang="en-US" sz="3200" dirty="0"/>
          </a:p>
        </p:txBody>
      </p:sp>
      <p:sp>
        <p:nvSpPr>
          <p:cNvPr id="4" name="Shape 2"/>
          <p:cNvSpPr/>
          <p:nvPr/>
        </p:nvSpPr>
        <p:spPr>
          <a:xfrm>
            <a:off x="640080" y="1051560"/>
            <a:ext cx="7863840" cy="1280160"/>
          </a:xfrm>
          <a:prstGeom prst="rect">
            <a:avLst/>
          </a:prstGeom>
          <a:solidFill>
            <a:srgbClr val="F1F5F9"/>
          </a:solidFill>
          <a:ln/>
        </p:spPr>
        <p:txBody>
          <a:bodyPr/>
          <a:lstStyle/>
          <a:p>
            <a:endParaRPr lang="en-IN"/>
          </a:p>
        </p:txBody>
      </p:sp>
      <p:sp>
        <p:nvSpPr>
          <p:cNvPr id="5" name="Shape 3"/>
          <p:cNvSpPr/>
          <p:nvPr/>
        </p:nvSpPr>
        <p:spPr>
          <a:xfrm>
            <a:off x="640080" y="1051560"/>
            <a:ext cx="73152" cy="1280160"/>
          </a:xfrm>
          <a:prstGeom prst="rect">
            <a:avLst/>
          </a:prstGeom>
          <a:solidFill>
            <a:srgbClr val="0891B2"/>
          </a:solidFill>
          <a:ln/>
        </p:spPr>
        <p:txBody>
          <a:bodyPr/>
          <a:lstStyle/>
          <a:p>
            <a:endParaRPr lang="en-IN"/>
          </a:p>
        </p:txBody>
      </p:sp>
      <p:sp>
        <p:nvSpPr>
          <p:cNvPr id="6" name="Text 4"/>
          <p:cNvSpPr/>
          <p:nvPr/>
        </p:nvSpPr>
        <p:spPr>
          <a:xfrm>
            <a:off x="1005840" y="1115568"/>
            <a:ext cx="7223760" cy="114300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Modules 06 and 07 gave your agents the ability to converse with users and run autonomous workflows. But in financial services, not every decision can be delegated to AI. Regulatory requirements, risk thresholds, and fiduciary obligations demand that certain actions — approving high-value claims, authorising cancellations, escalating fraud — must involve a qualified human.</a:t>
            </a:r>
            <a:endParaRPr lang="en-US" sz="1300" dirty="0"/>
          </a:p>
        </p:txBody>
      </p:sp>
      <p:sp>
        <p:nvSpPr>
          <p:cNvPr id="7" name="Shape 5"/>
          <p:cNvSpPr/>
          <p:nvPr/>
        </p:nvSpPr>
        <p:spPr>
          <a:xfrm>
            <a:off x="640080" y="2560320"/>
            <a:ext cx="3657600" cy="2011680"/>
          </a:xfrm>
          <a:prstGeom prst="rect">
            <a:avLst/>
          </a:prstGeom>
          <a:solidFill>
            <a:srgbClr val="F1F5F9"/>
          </a:solidFill>
          <a:ln/>
        </p:spPr>
        <p:txBody>
          <a:bodyPr/>
          <a:lstStyle/>
          <a:p>
            <a:endParaRPr lang="en-IN"/>
          </a:p>
        </p:txBody>
      </p:sp>
      <p:sp>
        <p:nvSpPr>
          <p:cNvPr id="8" name="Text 6"/>
          <p:cNvSpPr/>
          <p:nvPr/>
        </p:nvSpPr>
        <p:spPr>
          <a:xfrm>
            <a:off x="868680" y="274320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9" name="Text 7"/>
          <p:cNvSpPr/>
          <p:nvPr/>
        </p:nvSpPr>
        <p:spPr>
          <a:xfrm>
            <a:off x="8229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 hr Theory</a:t>
            </a:r>
            <a:endParaRPr lang="en-US" sz="1400" dirty="0"/>
          </a:p>
        </p:txBody>
      </p:sp>
      <p:sp>
        <p:nvSpPr>
          <p:cNvPr id="10" name="Text 8"/>
          <p:cNvSpPr/>
          <p:nvPr/>
        </p:nvSpPr>
        <p:spPr>
          <a:xfrm>
            <a:off x="822959" y="3566160"/>
            <a:ext cx="3567611" cy="393192"/>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HITL patterns, approval architecture, BFSI compliance</a:t>
            </a:r>
            <a:endParaRPr lang="en-US" sz="1100" dirty="0"/>
          </a:p>
        </p:txBody>
      </p:sp>
      <p:sp>
        <p:nvSpPr>
          <p:cNvPr id="12" name="Text 10"/>
          <p:cNvSpPr/>
          <p:nvPr/>
        </p:nvSpPr>
        <p:spPr>
          <a:xfrm>
            <a:off x="3611880" y="274320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5" name="Shape 13"/>
          <p:cNvSpPr/>
          <p:nvPr/>
        </p:nvSpPr>
        <p:spPr>
          <a:xfrm>
            <a:off x="4480560" y="2560320"/>
            <a:ext cx="4114800" cy="2011680"/>
          </a:xfrm>
          <a:prstGeom prst="rect">
            <a:avLst/>
          </a:prstGeom>
          <a:solidFill>
            <a:srgbClr val="F1F5F9"/>
          </a:solidFill>
          <a:ln/>
        </p:spPr>
        <p:txBody>
          <a:bodyPr/>
          <a:lstStyle/>
          <a:p>
            <a:endParaRPr lang="en-IN"/>
          </a:p>
        </p:txBody>
      </p:sp>
      <p:sp>
        <p:nvSpPr>
          <p:cNvPr id="16" name="Text 14"/>
          <p:cNvSpPr/>
          <p:nvPr/>
        </p:nvSpPr>
        <p:spPr>
          <a:xfrm>
            <a:off x="4709160" y="274320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466344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Outcome</a:t>
            </a:r>
            <a:endParaRPr lang="en-US" sz="1400" dirty="0"/>
          </a:p>
        </p:txBody>
      </p:sp>
      <p:sp>
        <p:nvSpPr>
          <p:cNvPr id="18" name="Text 16"/>
          <p:cNvSpPr/>
          <p:nvPr/>
        </p:nvSpPr>
        <p:spPr>
          <a:xfrm>
            <a:off x="4663440" y="3566160"/>
            <a:ext cx="3291840" cy="461772"/>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Enterprise-grade approval system with audit trail</a:t>
            </a:r>
            <a:endParaRPr lang="en-US" sz="11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1" name="Text 19"/>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 (1/2)</a:t>
            </a:r>
            <a:endParaRPr lang="en-US" sz="3200" dirty="0"/>
          </a:p>
        </p:txBody>
      </p:sp>
      <p:sp>
        <p:nvSpPr>
          <p:cNvPr id="4" name="Shape 2"/>
          <p:cNvSpPr/>
          <p:nvPr/>
        </p:nvSpPr>
        <p:spPr>
          <a:xfrm>
            <a:off x="640080" y="1051560"/>
            <a:ext cx="7863840" cy="594360"/>
          </a:xfrm>
          <a:prstGeom prst="rect">
            <a:avLst/>
          </a:prstGeom>
          <a:solidFill>
            <a:srgbClr val="F1F5F9"/>
          </a:solidFill>
          <a:ln/>
        </p:spPr>
        <p:txBody>
          <a:bodyPr/>
          <a:lstStyle/>
          <a:p>
            <a:endParaRPr lang="en-IN"/>
          </a:p>
        </p:txBody>
      </p:sp>
      <p:sp>
        <p:nvSpPr>
          <p:cNvPr id="5" name="Text 3"/>
          <p:cNvSpPr/>
          <p:nvPr/>
        </p:nvSpPr>
        <p:spPr>
          <a:xfrm>
            <a:off x="777240" y="11887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1325880" y="11612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Explain what human-in-the-loop means in agentic AI and why it is essential for BFSI compliance</a:t>
            </a:r>
            <a:endParaRPr lang="en-US" sz="1200" dirty="0"/>
          </a:p>
        </p:txBody>
      </p:sp>
      <p:sp>
        <p:nvSpPr>
          <p:cNvPr id="7" name="Shape 5"/>
          <p:cNvSpPr/>
          <p:nvPr/>
        </p:nvSpPr>
        <p:spPr>
          <a:xfrm>
            <a:off x="640080" y="1737360"/>
            <a:ext cx="7863840" cy="594360"/>
          </a:xfrm>
          <a:prstGeom prst="rect">
            <a:avLst/>
          </a:prstGeom>
          <a:solidFill>
            <a:srgbClr val="F1F5F9"/>
          </a:solidFill>
          <a:ln/>
        </p:spPr>
        <p:txBody>
          <a:bodyPr/>
          <a:lstStyle/>
          <a:p>
            <a:endParaRPr lang="en-IN"/>
          </a:p>
        </p:txBody>
      </p:sp>
      <p:sp>
        <p:nvSpPr>
          <p:cNvPr id="8" name="Text 6"/>
          <p:cNvSpPr/>
          <p:nvPr/>
        </p:nvSpPr>
        <p:spPr>
          <a:xfrm>
            <a:off x="777240" y="18745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02</a:t>
            </a:r>
            <a:endParaRPr lang="en-US" sz="1300" dirty="0"/>
          </a:p>
        </p:txBody>
      </p:sp>
      <p:sp>
        <p:nvSpPr>
          <p:cNvPr id="9" name="Text 7"/>
          <p:cNvSpPr/>
          <p:nvPr/>
        </p:nvSpPr>
        <p:spPr>
          <a:xfrm>
            <a:off x="1325880" y="18470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Design approval workflows using Power Automate's Workflow Designer with single-level, multi-level sequential, and parallel approval patterns</a:t>
            </a:r>
            <a:endParaRPr lang="en-US" sz="1200" dirty="0"/>
          </a:p>
        </p:txBody>
      </p:sp>
      <p:sp>
        <p:nvSpPr>
          <p:cNvPr id="10" name="Shape 8"/>
          <p:cNvSpPr/>
          <p:nvPr/>
        </p:nvSpPr>
        <p:spPr>
          <a:xfrm>
            <a:off x="640080" y="2423160"/>
            <a:ext cx="7863840" cy="594360"/>
          </a:xfrm>
          <a:prstGeom prst="rect">
            <a:avLst/>
          </a:prstGeom>
          <a:solidFill>
            <a:srgbClr val="F1F5F9"/>
          </a:solidFill>
          <a:ln/>
        </p:spPr>
        <p:txBody>
          <a:bodyPr/>
          <a:lstStyle/>
          <a:p>
            <a:endParaRPr lang="en-IN"/>
          </a:p>
        </p:txBody>
      </p:sp>
      <p:sp>
        <p:nvSpPr>
          <p:cNvPr id="11" name="Text 9"/>
          <p:cNvSpPr/>
          <p:nvPr/>
        </p:nvSpPr>
        <p:spPr>
          <a:xfrm>
            <a:off x="777240" y="25603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03</a:t>
            </a:r>
            <a:endParaRPr lang="en-US" sz="1300" dirty="0"/>
          </a:p>
        </p:txBody>
      </p:sp>
      <p:sp>
        <p:nvSpPr>
          <p:cNvPr id="12" name="Text 10"/>
          <p:cNvSpPr/>
          <p:nvPr/>
        </p:nvSpPr>
        <p:spPr>
          <a:xfrm>
            <a:off x="1325880" y="25328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Configure the Power Automate Approvals connector with custom response options, due dates, and contextual details</a:t>
            </a:r>
            <a:endParaRPr lang="en-US" sz="1200" dirty="0"/>
          </a:p>
        </p:txBody>
      </p:sp>
      <p:sp>
        <p:nvSpPr>
          <p:cNvPr id="13" name="Shape 11"/>
          <p:cNvSpPr/>
          <p:nvPr/>
        </p:nvSpPr>
        <p:spPr>
          <a:xfrm>
            <a:off x="640080" y="3108960"/>
            <a:ext cx="7863840" cy="594360"/>
          </a:xfrm>
          <a:prstGeom prst="rect">
            <a:avLst/>
          </a:prstGeom>
          <a:solidFill>
            <a:srgbClr val="F1F5F9"/>
          </a:solidFill>
          <a:ln/>
        </p:spPr>
        <p:txBody>
          <a:bodyPr/>
          <a:lstStyle/>
          <a:p>
            <a:endParaRPr lang="en-IN"/>
          </a:p>
        </p:txBody>
      </p:sp>
      <p:sp>
        <p:nvSpPr>
          <p:cNvPr id="14" name="Text 12"/>
          <p:cNvSpPr/>
          <p:nvPr/>
        </p:nvSpPr>
        <p:spPr>
          <a:xfrm>
            <a:off x="777240" y="32461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04</a:t>
            </a:r>
            <a:endParaRPr lang="en-US" sz="1300" dirty="0"/>
          </a:p>
        </p:txBody>
      </p:sp>
      <p:sp>
        <p:nvSpPr>
          <p:cNvPr id="15" name="Text 13"/>
          <p:cNvSpPr/>
          <p:nvPr/>
        </p:nvSpPr>
        <p:spPr>
          <a:xfrm>
            <a:off x="1325880" y="32186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Build a multi-level claims approval workflow with amount-based routing thresholds for Indian insurance operations</a:t>
            </a:r>
            <a:endParaRPr lang="en-US" sz="1200" dirty="0"/>
          </a:p>
        </p:txBody>
      </p:sp>
      <p:sp>
        <p:nvSpPr>
          <p:cNvPr id="16" name="Shape 14"/>
          <p:cNvSpPr/>
          <p:nvPr/>
        </p:nvSpPr>
        <p:spPr>
          <a:xfrm>
            <a:off x="640080" y="3794760"/>
            <a:ext cx="7863840" cy="594360"/>
          </a:xfrm>
          <a:prstGeom prst="rect">
            <a:avLst/>
          </a:prstGeom>
          <a:solidFill>
            <a:srgbClr val="F1F5F9"/>
          </a:solidFill>
          <a:ln/>
        </p:spPr>
        <p:txBody>
          <a:bodyPr/>
          <a:lstStyle/>
          <a:p>
            <a:endParaRPr lang="en-IN"/>
          </a:p>
        </p:txBody>
      </p:sp>
      <p:sp>
        <p:nvSpPr>
          <p:cNvPr id="17" name="Text 15"/>
          <p:cNvSpPr/>
          <p:nvPr/>
        </p:nvSpPr>
        <p:spPr>
          <a:xfrm>
            <a:off x="777240" y="39319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05</a:t>
            </a:r>
            <a:endParaRPr lang="en-US" sz="1300" dirty="0"/>
          </a:p>
        </p:txBody>
      </p:sp>
      <p:sp>
        <p:nvSpPr>
          <p:cNvPr id="18" name="Text 16"/>
          <p:cNvSpPr/>
          <p:nvPr/>
        </p:nvSpPr>
        <p:spPr>
          <a:xfrm>
            <a:off x="1325880" y="39044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Integrate Power Automate approval workflows with Copilot Studio agents using the "Call a flow" action</a:t>
            </a:r>
            <a:endParaRPr lang="en-US" sz="12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1" name="Text 19"/>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 (2/2)</a:t>
            </a:r>
            <a:endParaRPr lang="en-US" sz="3200" dirty="0"/>
          </a:p>
        </p:txBody>
      </p:sp>
      <p:sp>
        <p:nvSpPr>
          <p:cNvPr id="4" name="Shape 2"/>
          <p:cNvSpPr/>
          <p:nvPr/>
        </p:nvSpPr>
        <p:spPr>
          <a:xfrm>
            <a:off x="640080" y="1051560"/>
            <a:ext cx="7863840" cy="594360"/>
          </a:xfrm>
          <a:prstGeom prst="rect">
            <a:avLst/>
          </a:prstGeom>
          <a:solidFill>
            <a:srgbClr val="F1F5F9"/>
          </a:solidFill>
          <a:ln/>
        </p:spPr>
        <p:txBody>
          <a:bodyPr/>
          <a:lstStyle/>
          <a:p>
            <a:endParaRPr lang="en-IN"/>
          </a:p>
        </p:txBody>
      </p:sp>
      <p:sp>
        <p:nvSpPr>
          <p:cNvPr id="5" name="Text 3"/>
          <p:cNvSpPr/>
          <p:nvPr/>
        </p:nvSpPr>
        <p:spPr>
          <a:xfrm>
            <a:off x="777240" y="11887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06</a:t>
            </a:r>
            <a:endParaRPr lang="en-US" sz="1300" dirty="0"/>
          </a:p>
        </p:txBody>
      </p:sp>
      <p:sp>
        <p:nvSpPr>
          <p:cNvPr id="6" name="Text 4"/>
          <p:cNvSpPr/>
          <p:nvPr/>
        </p:nvSpPr>
        <p:spPr>
          <a:xfrm>
            <a:off x="1325880" y="11612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Create a Dataverse approval log table that records every decision, approver, timestamp, and rationale for audit purposes</a:t>
            </a:r>
            <a:endParaRPr lang="en-US" sz="1200" dirty="0"/>
          </a:p>
        </p:txBody>
      </p:sp>
      <p:sp>
        <p:nvSpPr>
          <p:cNvPr id="7" name="Shape 5"/>
          <p:cNvSpPr/>
          <p:nvPr/>
        </p:nvSpPr>
        <p:spPr>
          <a:xfrm>
            <a:off x="640080" y="1737360"/>
            <a:ext cx="7863840" cy="594360"/>
          </a:xfrm>
          <a:prstGeom prst="rect">
            <a:avLst/>
          </a:prstGeom>
          <a:solidFill>
            <a:srgbClr val="F1F5F9"/>
          </a:solidFill>
          <a:ln/>
        </p:spPr>
        <p:txBody>
          <a:bodyPr/>
          <a:lstStyle/>
          <a:p>
            <a:endParaRPr lang="en-IN"/>
          </a:p>
        </p:txBody>
      </p:sp>
      <p:sp>
        <p:nvSpPr>
          <p:cNvPr id="8" name="Text 6"/>
          <p:cNvSpPr/>
          <p:nvPr/>
        </p:nvSpPr>
        <p:spPr>
          <a:xfrm>
            <a:off x="777240" y="18745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07</a:t>
            </a:r>
            <a:endParaRPr lang="en-US" sz="1300" dirty="0"/>
          </a:p>
        </p:txBody>
      </p:sp>
      <p:sp>
        <p:nvSpPr>
          <p:cNvPr id="9" name="Text 7"/>
          <p:cNvSpPr/>
          <p:nvPr/>
        </p:nvSpPr>
        <p:spPr>
          <a:xfrm>
            <a:off x="1325880" y="18470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Compare three HITL approaches: Power Automate Approvals, Agent Flow Request for Information, and Adaptive Cards in Topics</a:t>
            </a:r>
            <a:endParaRPr lang="en-US" sz="1200" dirty="0"/>
          </a:p>
        </p:txBody>
      </p:sp>
      <p:sp>
        <p:nvSpPr>
          <p:cNvPr id="10" name="Shape 8"/>
          <p:cNvSpPr/>
          <p:nvPr/>
        </p:nvSpPr>
        <p:spPr>
          <a:xfrm>
            <a:off x="640080" y="2423160"/>
            <a:ext cx="7863840" cy="594360"/>
          </a:xfrm>
          <a:prstGeom prst="rect">
            <a:avLst/>
          </a:prstGeom>
          <a:solidFill>
            <a:srgbClr val="F1F5F9"/>
          </a:solidFill>
          <a:ln/>
        </p:spPr>
        <p:txBody>
          <a:bodyPr/>
          <a:lstStyle/>
          <a:p>
            <a:endParaRPr lang="en-IN"/>
          </a:p>
        </p:txBody>
      </p:sp>
      <p:sp>
        <p:nvSpPr>
          <p:cNvPr id="11" name="Text 9"/>
          <p:cNvSpPr/>
          <p:nvPr/>
        </p:nvSpPr>
        <p:spPr>
          <a:xfrm>
            <a:off x="777240" y="25603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08</a:t>
            </a:r>
            <a:endParaRPr lang="en-US" sz="1300" dirty="0"/>
          </a:p>
        </p:txBody>
      </p:sp>
      <p:sp>
        <p:nvSpPr>
          <p:cNvPr id="12" name="Text 10"/>
          <p:cNvSpPr/>
          <p:nvPr/>
        </p:nvSpPr>
        <p:spPr>
          <a:xfrm>
            <a:off x="1325880" y="25328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Implement escalation and timeout policies for approvals not actioned within SLA</a:t>
            </a:r>
            <a:endParaRPr lang="en-US" sz="1200" dirty="0"/>
          </a:p>
        </p:txBody>
      </p:sp>
      <p:sp>
        <p:nvSpPr>
          <p:cNvPr id="13" name="Shape 11"/>
          <p:cNvSpPr/>
          <p:nvPr/>
        </p:nvSpPr>
        <p:spPr>
          <a:xfrm>
            <a:off x="640080" y="3108960"/>
            <a:ext cx="7863840" cy="594360"/>
          </a:xfrm>
          <a:prstGeom prst="rect">
            <a:avLst/>
          </a:prstGeom>
          <a:solidFill>
            <a:srgbClr val="F1F5F9"/>
          </a:solidFill>
          <a:ln/>
        </p:spPr>
        <p:txBody>
          <a:bodyPr/>
          <a:lstStyle/>
          <a:p>
            <a:endParaRPr lang="en-IN"/>
          </a:p>
        </p:txBody>
      </p:sp>
      <p:sp>
        <p:nvSpPr>
          <p:cNvPr id="14" name="Text 12"/>
          <p:cNvSpPr/>
          <p:nvPr/>
        </p:nvSpPr>
        <p:spPr>
          <a:xfrm>
            <a:off x="777240" y="32461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09</a:t>
            </a:r>
            <a:endParaRPr lang="en-US" sz="1300" dirty="0"/>
          </a:p>
        </p:txBody>
      </p:sp>
      <p:sp>
        <p:nvSpPr>
          <p:cNvPr id="15" name="Text 13"/>
          <p:cNvSpPr/>
          <p:nvPr/>
        </p:nvSpPr>
        <p:spPr>
          <a:xfrm>
            <a:off x="1325880" y="32186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Build end-to-end BFSI scenario: agent triages claim → routes to approval → approver decides → agent updates and notifies</a:t>
            </a:r>
            <a:endParaRPr lang="en-US" sz="1200" dirty="0"/>
          </a:p>
        </p:txBody>
      </p:sp>
      <p:sp>
        <p:nvSpPr>
          <p:cNvPr id="16" name="Shape 14"/>
          <p:cNvSpPr/>
          <p:nvPr/>
        </p:nvSpPr>
        <p:spPr>
          <a:xfrm>
            <a:off x="640080" y="3794760"/>
            <a:ext cx="7863840" cy="594360"/>
          </a:xfrm>
          <a:prstGeom prst="rect">
            <a:avLst/>
          </a:prstGeom>
          <a:solidFill>
            <a:srgbClr val="F1F5F9"/>
          </a:solidFill>
          <a:ln/>
        </p:spPr>
        <p:txBody>
          <a:bodyPr/>
          <a:lstStyle/>
          <a:p>
            <a:endParaRPr lang="en-IN"/>
          </a:p>
        </p:txBody>
      </p:sp>
      <p:sp>
        <p:nvSpPr>
          <p:cNvPr id="17" name="Text 15"/>
          <p:cNvSpPr/>
          <p:nvPr/>
        </p:nvSpPr>
        <p:spPr>
          <a:xfrm>
            <a:off x="777240" y="39319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010</a:t>
            </a:r>
            <a:endParaRPr lang="en-US" sz="1300" dirty="0"/>
          </a:p>
        </p:txBody>
      </p:sp>
      <p:sp>
        <p:nvSpPr>
          <p:cNvPr id="18" name="Text 16"/>
          <p:cNvSpPr/>
          <p:nvPr/>
        </p:nvSpPr>
        <p:spPr>
          <a:xfrm>
            <a:off x="1325880" y="39044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Test and debug approval workflows using Power Automate run history and Dataverse audit records</a:t>
            </a:r>
            <a:endParaRPr lang="en-US" sz="12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1" name="Text 19"/>
          <p:cNvSpPr/>
          <p:nvPr/>
        </p:nvSpPr>
        <p:spPr>
          <a:xfrm>
            <a:off x="7957457"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Module Structure</a:t>
            </a:r>
            <a:endParaRPr lang="en-US" sz="3000" dirty="0"/>
          </a:p>
        </p:txBody>
      </p:sp>
      <p:sp>
        <p:nvSpPr>
          <p:cNvPr id="4" name="Shape 2"/>
          <p:cNvSpPr/>
          <p:nvPr/>
        </p:nvSpPr>
        <p:spPr>
          <a:xfrm>
            <a:off x="640080" y="1005840"/>
            <a:ext cx="3840480" cy="1645920"/>
          </a:xfrm>
          <a:prstGeom prst="rect">
            <a:avLst/>
          </a:prstGeom>
          <a:solidFill>
            <a:srgbClr val="F1F5F9"/>
          </a:solidFill>
          <a:ln/>
        </p:spPr>
        <p:txBody>
          <a:bodyPr/>
          <a:lstStyle/>
          <a:p>
            <a:endParaRPr lang="en-IN"/>
          </a:p>
        </p:txBody>
      </p:sp>
      <p:sp>
        <p:nvSpPr>
          <p:cNvPr id="5" name="Shape 3"/>
          <p:cNvSpPr/>
          <p:nvPr/>
        </p:nvSpPr>
        <p:spPr>
          <a:xfrm>
            <a:off x="640080" y="1005840"/>
            <a:ext cx="73152" cy="1645920"/>
          </a:xfrm>
          <a:prstGeom prst="rect">
            <a:avLst/>
          </a:prstGeom>
          <a:solidFill>
            <a:srgbClr val="0891B2"/>
          </a:solidFill>
          <a:ln/>
        </p:spPr>
        <p:txBody>
          <a:bodyPr/>
          <a:lstStyle/>
          <a:p>
            <a:endParaRPr lang="en-IN"/>
          </a:p>
        </p:txBody>
      </p:sp>
      <p:sp>
        <p:nvSpPr>
          <p:cNvPr id="6" name="Text 4"/>
          <p:cNvSpPr/>
          <p:nvPr/>
        </p:nvSpPr>
        <p:spPr>
          <a:xfrm>
            <a:off x="868680" y="1097280"/>
            <a:ext cx="914400" cy="274320"/>
          </a:xfrm>
          <a:prstGeom prst="rect">
            <a:avLst/>
          </a:prstGeom>
          <a:noFill/>
          <a:ln/>
        </p:spPr>
        <p:txBody>
          <a:bodyPr wrap="square" rtlCol="0" anchor="ctr"/>
          <a:lstStyle/>
          <a:p>
            <a:pPr marL="0" indent="0">
              <a:buNone/>
            </a:pPr>
            <a:r>
              <a:rPr lang="en-US" sz="1000" b="1" dirty="0">
                <a:solidFill>
                  <a:srgbClr val="0891B2"/>
                </a:solidFill>
                <a:latin typeface="Segoe UI" pitchFamily="34" charset="0"/>
                <a:ea typeface="Segoe UI" pitchFamily="34" charset="-122"/>
                <a:cs typeface="Segoe UI" pitchFamily="34" charset="-120"/>
              </a:rPr>
              <a:t>PART A</a:t>
            </a:r>
            <a:endParaRPr lang="en-US" sz="1000" dirty="0"/>
          </a:p>
        </p:txBody>
      </p:sp>
      <p:sp>
        <p:nvSpPr>
          <p:cNvPr id="7" name="Text 5"/>
          <p:cNvSpPr/>
          <p:nvPr/>
        </p:nvSpPr>
        <p:spPr>
          <a:xfrm>
            <a:off x="868680" y="1371600"/>
            <a:ext cx="3474720" cy="365760"/>
          </a:xfrm>
          <a:prstGeom prst="rect">
            <a:avLst/>
          </a:prstGeom>
          <a:noFill/>
          <a:ln/>
        </p:spPr>
        <p:txBody>
          <a:bodyPr wrap="square" rtlCol="0" anchor="ctr"/>
          <a:lstStyle/>
          <a:p>
            <a:pPr marL="0" indent="0">
              <a:buNone/>
            </a:pPr>
            <a:r>
              <a:rPr lang="en-US" sz="1800" b="1" dirty="0">
                <a:solidFill>
                  <a:srgbClr val="1E293B"/>
                </a:solidFill>
                <a:latin typeface="Segoe UI" pitchFamily="34" charset="0"/>
                <a:ea typeface="Segoe UI" pitchFamily="34" charset="-122"/>
                <a:cs typeface="Segoe UI" pitchFamily="34" charset="-120"/>
              </a:rPr>
              <a:t>Theory</a:t>
            </a:r>
            <a:endParaRPr lang="en-US" sz="1800" dirty="0"/>
          </a:p>
        </p:txBody>
      </p:sp>
      <p:sp>
        <p:nvSpPr>
          <p:cNvPr id="8" name="Text 6"/>
          <p:cNvSpPr/>
          <p:nvPr/>
        </p:nvSpPr>
        <p:spPr>
          <a:xfrm>
            <a:off x="868680" y="1737360"/>
            <a:ext cx="3474720" cy="5486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HITL Patterns, Approval Architecture &amp; BFSI Compliance</a:t>
            </a:r>
            <a:endParaRPr lang="en-US" sz="1100" dirty="0"/>
          </a:p>
        </p:txBody>
      </p:sp>
      <p:sp>
        <p:nvSpPr>
          <p:cNvPr id="9" name="Shape 7"/>
          <p:cNvSpPr/>
          <p:nvPr/>
        </p:nvSpPr>
        <p:spPr>
          <a:xfrm>
            <a:off x="868680" y="2331720"/>
            <a:ext cx="1097280" cy="228600"/>
          </a:xfrm>
          <a:prstGeom prst="rect">
            <a:avLst/>
          </a:prstGeom>
          <a:solidFill>
            <a:srgbClr val="0891B2"/>
          </a:solidFill>
          <a:ln/>
        </p:spPr>
        <p:txBody>
          <a:bodyPr/>
          <a:lstStyle/>
          <a:p>
            <a:endParaRPr lang="en-IN"/>
          </a:p>
        </p:txBody>
      </p:sp>
      <p:sp>
        <p:nvSpPr>
          <p:cNvPr id="10" name="Text 8"/>
          <p:cNvSpPr/>
          <p:nvPr/>
        </p:nvSpPr>
        <p:spPr>
          <a:xfrm>
            <a:off x="868680" y="2331720"/>
            <a:ext cx="1097280" cy="2286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1 Hour</a:t>
            </a:r>
            <a:endParaRPr lang="en-US" sz="1000" dirty="0"/>
          </a:p>
        </p:txBody>
      </p:sp>
      <p:sp>
        <p:nvSpPr>
          <p:cNvPr id="11" name="Shape 9"/>
          <p:cNvSpPr/>
          <p:nvPr/>
        </p:nvSpPr>
        <p:spPr>
          <a:xfrm>
            <a:off x="4663440" y="1005840"/>
            <a:ext cx="3840480" cy="1645920"/>
          </a:xfrm>
          <a:prstGeom prst="rect">
            <a:avLst/>
          </a:prstGeom>
          <a:solidFill>
            <a:srgbClr val="F1F5F9"/>
          </a:solidFill>
          <a:ln/>
        </p:spPr>
        <p:txBody>
          <a:bodyPr/>
          <a:lstStyle/>
          <a:p>
            <a:endParaRPr lang="en-IN"/>
          </a:p>
        </p:txBody>
      </p:sp>
      <p:sp>
        <p:nvSpPr>
          <p:cNvPr id="12" name="Shape 10"/>
          <p:cNvSpPr/>
          <p:nvPr/>
        </p:nvSpPr>
        <p:spPr>
          <a:xfrm>
            <a:off x="4663440" y="1005840"/>
            <a:ext cx="73152" cy="1645920"/>
          </a:xfrm>
          <a:prstGeom prst="rect">
            <a:avLst/>
          </a:prstGeom>
          <a:solidFill>
            <a:srgbClr val="F59E0B"/>
          </a:solidFill>
          <a:ln/>
        </p:spPr>
        <p:txBody>
          <a:bodyPr/>
          <a:lstStyle/>
          <a:p>
            <a:endParaRPr lang="en-IN"/>
          </a:p>
        </p:txBody>
      </p:sp>
      <p:sp>
        <p:nvSpPr>
          <p:cNvPr id="13" name="Text 11"/>
          <p:cNvSpPr/>
          <p:nvPr/>
        </p:nvSpPr>
        <p:spPr>
          <a:xfrm>
            <a:off x="4892040" y="1097280"/>
            <a:ext cx="914400" cy="274320"/>
          </a:xfrm>
          <a:prstGeom prst="rect">
            <a:avLst/>
          </a:prstGeom>
          <a:noFill/>
          <a:ln/>
        </p:spPr>
        <p:txBody>
          <a:bodyPr wrap="square" rtlCol="0" anchor="ctr"/>
          <a:lstStyle/>
          <a:p>
            <a:pPr marL="0" indent="0">
              <a:buNone/>
            </a:pPr>
            <a:r>
              <a:rPr lang="en-US" sz="1000" b="1" dirty="0">
                <a:solidFill>
                  <a:srgbClr val="F59E0B"/>
                </a:solidFill>
                <a:latin typeface="Segoe UI" pitchFamily="34" charset="0"/>
                <a:ea typeface="Segoe UI" pitchFamily="34" charset="-122"/>
                <a:cs typeface="Segoe UI" pitchFamily="34" charset="-120"/>
              </a:rPr>
              <a:t>PART B</a:t>
            </a:r>
            <a:endParaRPr lang="en-US" sz="1000" dirty="0"/>
          </a:p>
        </p:txBody>
      </p:sp>
      <p:sp>
        <p:nvSpPr>
          <p:cNvPr id="14" name="Text 12"/>
          <p:cNvSpPr/>
          <p:nvPr/>
        </p:nvSpPr>
        <p:spPr>
          <a:xfrm>
            <a:off x="4892040" y="1371600"/>
            <a:ext cx="3474720" cy="365760"/>
          </a:xfrm>
          <a:prstGeom prst="rect">
            <a:avLst/>
          </a:prstGeom>
          <a:noFill/>
          <a:ln/>
        </p:spPr>
        <p:txBody>
          <a:bodyPr wrap="square" rtlCol="0" anchor="ctr"/>
          <a:lstStyle/>
          <a:p>
            <a:pPr marL="0" indent="0">
              <a:buNone/>
            </a:pPr>
            <a:r>
              <a:rPr lang="en-US" sz="1800" b="1" dirty="0">
                <a:solidFill>
                  <a:srgbClr val="1E293B"/>
                </a:solidFill>
                <a:latin typeface="Segoe UI" pitchFamily="34" charset="0"/>
                <a:ea typeface="Segoe UI" pitchFamily="34" charset="-122"/>
                <a:cs typeface="Segoe UI" pitchFamily="34" charset="-120"/>
              </a:rPr>
              <a:t>Hands-On Lab</a:t>
            </a:r>
            <a:endParaRPr lang="en-US" sz="1800" dirty="0"/>
          </a:p>
        </p:txBody>
      </p:sp>
      <p:sp>
        <p:nvSpPr>
          <p:cNvPr id="15" name="Text 13"/>
          <p:cNvSpPr/>
          <p:nvPr/>
        </p:nvSpPr>
        <p:spPr>
          <a:xfrm>
            <a:off x="4892040" y="1737360"/>
            <a:ext cx="3474720" cy="5486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Building BFSI Claims Approval Workflow</a:t>
            </a:r>
            <a:endParaRPr lang="en-US" sz="1100" dirty="0"/>
          </a:p>
        </p:txBody>
      </p:sp>
      <p:sp>
        <p:nvSpPr>
          <p:cNvPr id="16" name="Shape 14"/>
          <p:cNvSpPr/>
          <p:nvPr/>
        </p:nvSpPr>
        <p:spPr>
          <a:xfrm>
            <a:off x="4892040" y="2331720"/>
            <a:ext cx="1097280" cy="228600"/>
          </a:xfrm>
          <a:prstGeom prst="rect">
            <a:avLst/>
          </a:prstGeom>
          <a:solidFill>
            <a:srgbClr val="F59E0B"/>
          </a:solidFill>
          <a:ln/>
        </p:spPr>
        <p:txBody>
          <a:bodyPr/>
          <a:lstStyle/>
          <a:p>
            <a:endParaRPr lang="en-IN"/>
          </a:p>
        </p:txBody>
      </p:sp>
      <p:sp>
        <p:nvSpPr>
          <p:cNvPr id="17" name="Text 15"/>
          <p:cNvSpPr/>
          <p:nvPr/>
        </p:nvSpPr>
        <p:spPr>
          <a:xfrm>
            <a:off x="4892040" y="2331720"/>
            <a:ext cx="1097280" cy="2286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2 Hours</a:t>
            </a:r>
            <a:endParaRPr lang="en-US" sz="1000" dirty="0"/>
          </a:p>
        </p:txBody>
      </p:sp>
      <p:sp>
        <p:nvSpPr>
          <p:cNvPr id="18" name="Shape 16"/>
          <p:cNvSpPr/>
          <p:nvPr/>
        </p:nvSpPr>
        <p:spPr>
          <a:xfrm>
            <a:off x="640080" y="2834640"/>
            <a:ext cx="7863840" cy="1737360"/>
          </a:xfrm>
          <a:prstGeom prst="rect">
            <a:avLst/>
          </a:prstGeom>
          <a:solidFill>
            <a:srgbClr val="0F172A"/>
          </a:solidFill>
          <a:ln/>
        </p:spPr>
        <p:txBody>
          <a:bodyPr/>
          <a:lstStyle/>
          <a:p>
            <a:endParaRPr lang="en-IN"/>
          </a:p>
        </p:txBody>
      </p:sp>
      <p:sp>
        <p:nvSpPr>
          <p:cNvPr id="19" name="Text 17"/>
          <p:cNvSpPr/>
          <p:nvPr/>
        </p:nvSpPr>
        <p:spPr>
          <a:xfrm>
            <a:off x="868680" y="2971800"/>
            <a:ext cx="2743200" cy="274320"/>
          </a:xfrm>
          <a:prstGeom prst="rect">
            <a:avLst/>
          </a:prstGeom>
          <a:noFill/>
          <a:ln/>
        </p:spPr>
        <p:txBody>
          <a:bodyPr wrap="square" rtlCol="0" anchor="ctr"/>
          <a:lstStyle/>
          <a:p>
            <a:pPr marL="0" indent="0">
              <a:buNone/>
            </a:pPr>
            <a:r>
              <a:rPr lang="en-US" sz="1000" b="1" dirty="0">
                <a:solidFill>
                  <a:srgbClr val="22D3EE"/>
                </a:solidFill>
                <a:latin typeface="Segoe UI" pitchFamily="34" charset="0"/>
                <a:ea typeface="Segoe UI" pitchFamily="34" charset="-122"/>
                <a:cs typeface="Segoe UI" pitchFamily="34" charset="-120"/>
              </a:rPr>
              <a:t>PREREQUISITES</a:t>
            </a:r>
            <a:endParaRPr lang="en-US" sz="1000" dirty="0"/>
          </a:p>
        </p:txBody>
      </p:sp>
      <p:sp>
        <p:nvSpPr>
          <p:cNvPr id="20" name="Text 18"/>
          <p:cNvSpPr/>
          <p:nvPr/>
        </p:nvSpPr>
        <p:spPr>
          <a:xfrm>
            <a:off x="868680" y="3291840"/>
            <a:ext cx="7498080" cy="1188720"/>
          </a:xfrm>
          <a:prstGeom prst="rect">
            <a:avLst/>
          </a:prstGeom>
          <a:noFill/>
          <a:ln/>
        </p:spPr>
        <p:txBody>
          <a:bodyPr wrap="square" rtlCol="0" anchor="ctr"/>
          <a:lstStyle/>
          <a:p>
            <a:pPr marL="0" indent="0">
              <a:buNone/>
            </a:pPr>
            <a:r>
              <a:rPr lang="en-US" sz="1000" dirty="0">
                <a:solidFill>
                  <a:srgbClr val="FFFFFF"/>
                </a:solidFill>
                <a:latin typeface="Segoe UI" pitchFamily="34" charset="0"/>
                <a:ea typeface="Segoe UI" pitchFamily="34" charset="-122"/>
                <a:cs typeface="Segoe UI" pitchFamily="34" charset="-120"/>
              </a:rPr>
              <a:t>• Completion of Modules 06–07: Contoso Insurance Operations Agent with Agent Flows functional</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Four BFSI Dataverse tables populated: Contoso_Customers (15), Contoso_Policies (20), Contoso_Claims (15), Contoso_Transactions (25)</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Power Automate Premium licence (trial acceptable) for Approvals connector</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Microsoft Teams installed (approval notifications are delivered via Teams)</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Email-enabled account (approvals also send email notifications as backup)</a:t>
            </a:r>
            <a:endParaRPr lang="en-US" sz="1000" dirty="0"/>
          </a:p>
        </p:txBody>
      </p:sp>
      <p:sp>
        <p:nvSpPr>
          <p:cNvPr id="21" name="Shape 19"/>
          <p:cNvSpPr/>
          <p:nvPr/>
        </p:nvSpPr>
        <p:spPr>
          <a:xfrm>
            <a:off x="0" y="4846320"/>
            <a:ext cx="9144000" cy="297180"/>
          </a:xfrm>
          <a:prstGeom prst="rect">
            <a:avLst/>
          </a:prstGeom>
          <a:solidFill>
            <a:srgbClr val="F1F5F9"/>
          </a:solidFill>
          <a:ln/>
        </p:spPr>
        <p:txBody>
          <a:bodyPr/>
          <a:lstStyle/>
          <a:p>
            <a:endParaRPr lang="en-IN"/>
          </a:p>
        </p:txBody>
      </p:sp>
      <p:sp>
        <p:nvSpPr>
          <p:cNvPr id="22" name="Text 20"/>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3" name="Text 21"/>
          <p:cNvSpPr/>
          <p:nvPr/>
        </p:nvSpPr>
        <p:spPr>
          <a:xfrm>
            <a:off x="7955280" y="4856117"/>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01</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Human-in-the-Loop</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Concepts &amp; Patterns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Why AI Alone Is Not Enough for BFSI</a:t>
            </a:r>
            <a:endParaRPr lang="en-US" sz="1500" dirty="0"/>
          </a:p>
        </p:txBody>
      </p:sp>
      <p:sp>
        <p:nvSpPr>
          <p:cNvPr id="6" name="Text 19">
            <a:extLst>
              <a:ext uri="{FF2B5EF4-FFF2-40B4-BE49-F238E27FC236}">
                <a16:creationId xmlns:a16="http://schemas.microsoft.com/office/drawing/2014/main" id="{B250229C-3F2F-4D05-6383-DCE617BD6614}"/>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6 / 28</a:t>
            </a:r>
            <a:endParaRPr lang="en-US" sz="9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 is Human-in-the-Loop?</a:t>
            </a:r>
            <a:endParaRPr lang="en-US" sz="3000" dirty="0"/>
          </a:p>
        </p:txBody>
      </p:sp>
      <p:sp>
        <p:nvSpPr>
          <p:cNvPr id="4" name="Shape 2"/>
          <p:cNvSpPr/>
          <p:nvPr/>
        </p:nvSpPr>
        <p:spPr>
          <a:xfrm>
            <a:off x="640080" y="914400"/>
            <a:ext cx="7863840" cy="914400"/>
          </a:xfrm>
          <a:prstGeom prst="rect">
            <a:avLst/>
          </a:prstGeom>
          <a:solidFill>
            <a:srgbClr val="F1F5F9"/>
          </a:solidFill>
          <a:ln/>
        </p:spPr>
        <p:txBody>
          <a:bodyPr/>
          <a:lstStyle/>
          <a:p>
            <a:endParaRPr lang="en-IN"/>
          </a:p>
        </p:txBody>
      </p:sp>
      <p:sp>
        <p:nvSpPr>
          <p:cNvPr id="5" name="Shape 3"/>
          <p:cNvSpPr/>
          <p:nvPr/>
        </p:nvSpPr>
        <p:spPr>
          <a:xfrm>
            <a:off x="640080" y="914400"/>
            <a:ext cx="73152" cy="914400"/>
          </a:xfrm>
          <a:prstGeom prst="rect">
            <a:avLst/>
          </a:prstGeom>
          <a:solidFill>
            <a:srgbClr val="0891B2"/>
          </a:solidFill>
          <a:ln/>
        </p:spPr>
        <p:txBody>
          <a:bodyPr/>
          <a:lstStyle/>
          <a:p>
            <a:endParaRPr lang="en-IN"/>
          </a:p>
        </p:txBody>
      </p:sp>
      <p:sp>
        <p:nvSpPr>
          <p:cNvPr id="6" name="Text 4"/>
          <p:cNvSpPr/>
          <p:nvPr/>
        </p:nvSpPr>
        <p:spPr>
          <a:xfrm>
            <a:off x="1005840" y="1005840"/>
            <a:ext cx="7223760" cy="73152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Human-in-the-Loop (HITL) is a design pattern where an automated process deliberately pauses execution and transfers a decision to a human. The human reviews context, makes a decision (approve, reject, escalate), and the process resumes based on that decision.</a:t>
            </a:r>
            <a:endParaRPr lang="en-US" sz="1300" dirty="0"/>
          </a:p>
        </p:txBody>
      </p:sp>
      <p:sp>
        <p:nvSpPr>
          <p:cNvPr id="7" name="Text 5"/>
          <p:cNvSpPr/>
          <p:nvPr/>
        </p:nvSpPr>
        <p:spPr>
          <a:xfrm>
            <a:off x="640080" y="2011680"/>
            <a:ext cx="7315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Three Critical Functions in Agentic AI Systems</a:t>
            </a:r>
            <a:endParaRPr lang="en-US" sz="1600" dirty="0"/>
          </a:p>
        </p:txBody>
      </p:sp>
      <p:sp>
        <p:nvSpPr>
          <p:cNvPr id="8" name="Shape 6"/>
          <p:cNvSpPr/>
          <p:nvPr/>
        </p:nvSpPr>
        <p:spPr>
          <a:xfrm>
            <a:off x="640080" y="2468880"/>
            <a:ext cx="2560320" cy="2103120"/>
          </a:xfrm>
          <a:prstGeom prst="rect">
            <a:avLst/>
          </a:prstGeom>
          <a:solidFill>
            <a:srgbClr val="F1F5F9"/>
          </a:solidFill>
          <a:ln/>
        </p:spPr>
        <p:txBody>
          <a:bodyPr/>
          <a:lstStyle/>
          <a:p>
            <a:endParaRPr lang="en-IN"/>
          </a:p>
        </p:txBody>
      </p:sp>
      <p:sp>
        <p:nvSpPr>
          <p:cNvPr id="9" name="Shape 7"/>
          <p:cNvSpPr/>
          <p:nvPr/>
        </p:nvSpPr>
        <p:spPr>
          <a:xfrm>
            <a:off x="640080" y="2468880"/>
            <a:ext cx="73152" cy="2103120"/>
          </a:xfrm>
          <a:prstGeom prst="rect">
            <a:avLst/>
          </a:prstGeom>
          <a:solidFill>
            <a:srgbClr val="0891B2"/>
          </a:solidFill>
          <a:ln/>
        </p:spPr>
        <p:txBody>
          <a:bodyPr/>
          <a:lstStyle/>
          <a:p>
            <a:endParaRPr lang="en-IN"/>
          </a:p>
        </p:txBody>
      </p:sp>
      <p:sp>
        <p:nvSpPr>
          <p:cNvPr id="10" name="Text 8"/>
          <p:cNvSpPr/>
          <p:nvPr/>
        </p:nvSpPr>
        <p:spPr>
          <a:xfrm>
            <a:off x="822960" y="2560320"/>
            <a:ext cx="219456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Decision Authority</a:t>
            </a:r>
            <a:endParaRPr lang="en-US" sz="1300" dirty="0"/>
          </a:p>
        </p:txBody>
      </p:sp>
      <p:sp>
        <p:nvSpPr>
          <p:cNvPr id="11" name="Text 9"/>
          <p:cNvSpPr/>
          <p:nvPr/>
        </p:nvSpPr>
        <p:spPr>
          <a:xfrm>
            <a:off x="822960" y="2926080"/>
            <a:ext cx="2194560" cy="7315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Certain decisions must be made by an authorised human — AI recommends, human decides</a:t>
            </a:r>
            <a:endParaRPr lang="en-US" sz="1000" dirty="0"/>
          </a:p>
        </p:txBody>
      </p:sp>
      <p:sp>
        <p:nvSpPr>
          <p:cNvPr id="12" name="Text 10"/>
          <p:cNvSpPr/>
          <p:nvPr/>
        </p:nvSpPr>
        <p:spPr>
          <a:xfrm>
            <a:off x="822960" y="3749040"/>
            <a:ext cx="2194560" cy="6400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IRDAI requires human approval for claims above thresholds</a:t>
            </a:r>
            <a:endParaRPr lang="en-US" sz="900" dirty="0"/>
          </a:p>
        </p:txBody>
      </p:sp>
      <p:sp>
        <p:nvSpPr>
          <p:cNvPr id="13" name="Shape 11"/>
          <p:cNvSpPr/>
          <p:nvPr/>
        </p:nvSpPr>
        <p:spPr>
          <a:xfrm>
            <a:off x="3383280" y="2468880"/>
            <a:ext cx="2560320" cy="2103120"/>
          </a:xfrm>
          <a:prstGeom prst="rect">
            <a:avLst/>
          </a:prstGeom>
          <a:solidFill>
            <a:srgbClr val="F1F5F9"/>
          </a:solidFill>
          <a:ln/>
        </p:spPr>
        <p:txBody>
          <a:bodyPr/>
          <a:lstStyle/>
          <a:p>
            <a:endParaRPr lang="en-IN"/>
          </a:p>
        </p:txBody>
      </p:sp>
      <p:sp>
        <p:nvSpPr>
          <p:cNvPr id="14" name="Shape 12"/>
          <p:cNvSpPr/>
          <p:nvPr/>
        </p:nvSpPr>
        <p:spPr>
          <a:xfrm>
            <a:off x="3383280" y="2468880"/>
            <a:ext cx="73152" cy="2103120"/>
          </a:xfrm>
          <a:prstGeom prst="rect">
            <a:avLst/>
          </a:prstGeom>
          <a:solidFill>
            <a:srgbClr val="F59E0B"/>
          </a:solidFill>
          <a:ln/>
        </p:spPr>
        <p:txBody>
          <a:bodyPr/>
          <a:lstStyle/>
          <a:p>
            <a:endParaRPr lang="en-IN"/>
          </a:p>
        </p:txBody>
      </p:sp>
      <p:sp>
        <p:nvSpPr>
          <p:cNvPr id="15" name="Text 13"/>
          <p:cNvSpPr/>
          <p:nvPr/>
        </p:nvSpPr>
        <p:spPr>
          <a:xfrm>
            <a:off x="3566160" y="2560320"/>
            <a:ext cx="219456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Quality Assurance</a:t>
            </a:r>
            <a:endParaRPr lang="en-US" sz="1300" dirty="0"/>
          </a:p>
        </p:txBody>
      </p:sp>
      <p:sp>
        <p:nvSpPr>
          <p:cNvPr id="16" name="Text 14"/>
          <p:cNvSpPr/>
          <p:nvPr/>
        </p:nvSpPr>
        <p:spPr>
          <a:xfrm>
            <a:off x="3566160" y="2926080"/>
            <a:ext cx="2194560" cy="7315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Human reviews AI-generated outputs before they impact customers or operations</a:t>
            </a:r>
            <a:endParaRPr lang="en-US" sz="1000" dirty="0"/>
          </a:p>
        </p:txBody>
      </p:sp>
      <p:sp>
        <p:nvSpPr>
          <p:cNvPr id="17" name="Text 15"/>
          <p:cNvSpPr/>
          <p:nvPr/>
        </p:nvSpPr>
        <p:spPr>
          <a:xfrm>
            <a:off x="3566160" y="3749040"/>
            <a:ext cx="2194560" cy="6400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AML regulations require human review of flagged transactions</a:t>
            </a:r>
            <a:endParaRPr lang="en-US" sz="900" dirty="0"/>
          </a:p>
        </p:txBody>
      </p:sp>
      <p:sp>
        <p:nvSpPr>
          <p:cNvPr id="18" name="Shape 16"/>
          <p:cNvSpPr/>
          <p:nvPr/>
        </p:nvSpPr>
        <p:spPr>
          <a:xfrm>
            <a:off x="6126480" y="2468880"/>
            <a:ext cx="2560320" cy="2103120"/>
          </a:xfrm>
          <a:prstGeom prst="rect">
            <a:avLst/>
          </a:prstGeom>
          <a:solidFill>
            <a:srgbClr val="F1F5F9"/>
          </a:solidFill>
          <a:ln/>
        </p:spPr>
        <p:txBody>
          <a:bodyPr/>
          <a:lstStyle/>
          <a:p>
            <a:endParaRPr lang="en-IN"/>
          </a:p>
        </p:txBody>
      </p:sp>
      <p:sp>
        <p:nvSpPr>
          <p:cNvPr id="19" name="Shape 17"/>
          <p:cNvSpPr/>
          <p:nvPr/>
        </p:nvSpPr>
        <p:spPr>
          <a:xfrm>
            <a:off x="6126480" y="2468880"/>
            <a:ext cx="73152" cy="2103120"/>
          </a:xfrm>
          <a:prstGeom prst="rect">
            <a:avLst/>
          </a:prstGeom>
          <a:solidFill>
            <a:srgbClr val="22C55E"/>
          </a:solidFill>
          <a:ln/>
        </p:spPr>
        <p:txBody>
          <a:bodyPr/>
          <a:lstStyle/>
          <a:p>
            <a:endParaRPr lang="en-IN"/>
          </a:p>
        </p:txBody>
      </p:sp>
      <p:sp>
        <p:nvSpPr>
          <p:cNvPr id="20" name="Text 18"/>
          <p:cNvSpPr/>
          <p:nvPr/>
        </p:nvSpPr>
        <p:spPr>
          <a:xfrm>
            <a:off x="6309360" y="2560320"/>
            <a:ext cx="219456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Accountability</a:t>
            </a:r>
            <a:endParaRPr lang="en-US" sz="1300" dirty="0"/>
          </a:p>
        </p:txBody>
      </p:sp>
      <p:sp>
        <p:nvSpPr>
          <p:cNvPr id="21" name="Text 19"/>
          <p:cNvSpPr/>
          <p:nvPr/>
        </p:nvSpPr>
        <p:spPr>
          <a:xfrm>
            <a:off x="6309360" y="2926080"/>
            <a:ext cx="2194560" cy="7315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Every material decision must have an identifiable human owner for audit purposes</a:t>
            </a:r>
            <a:endParaRPr lang="en-US" sz="1000" dirty="0"/>
          </a:p>
        </p:txBody>
      </p:sp>
      <p:sp>
        <p:nvSpPr>
          <p:cNvPr id="22" name="Text 20"/>
          <p:cNvSpPr/>
          <p:nvPr/>
        </p:nvSpPr>
        <p:spPr>
          <a:xfrm>
            <a:off x="6309360" y="3749040"/>
            <a:ext cx="2194560" cy="6400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Financial services audit requirements mandate human sign-off</a:t>
            </a:r>
            <a:endParaRPr lang="en-US" sz="900" dirty="0"/>
          </a:p>
        </p:txBody>
      </p:sp>
      <p:sp>
        <p:nvSpPr>
          <p:cNvPr id="23" name="Shape 21"/>
          <p:cNvSpPr/>
          <p:nvPr/>
        </p:nvSpPr>
        <p:spPr>
          <a:xfrm>
            <a:off x="0" y="4846320"/>
            <a:ext cx="9144000" cy="297180"/>
          </a:xfrm>
          <a:prstGeom prst="rect">
            <a:avLst/>
          </a:prstGeom>
          <a:solidFill>
            <a:srgbClr val="F1F5F9"/>
          </a:solidFill>
          <a:ln/>
        </p:spPr>
        <p:txBody>
          <a:bodyPr/>
          <a:lstStyle/>
          <a:p>
            <a:endParaRPr lang="en-IN"/>
          </a:p>
        </p:txBody>
      </p:sp>
      <p:sp>
        <p:nvSpPr>
          <p:cNvPr id="24" name="Text 22"/>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5" name="Text 23"/>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The HITL Spectrum</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Not every process needs human involvement at every step. Design HITL controls based on the risk level:</a:t>
            </a:r>
            <a:endParaRPr lang="en-US" sz="1200" dirty="0"/>
          </a:p>
        </p:txBody>
      </p:sp>
      <p:sp>
        <p:nvSpPr>
          <p:cNvPr id="5" name="Shape 3"/>
          <p:cNvSpPr/>
          <p:nvPr/>
        </p:nvSpPr>
        <p:spPr>
          <a:xfrm>
            <a:off x="457200" y="1234440"/>
            <a:ext cx="8229600" cy="777240"/>
          </a:xfrm>
          <a:prstGeom prst="rect">
            <a:avLst/>
          </a:prstGeom>
          <a:solidFill>
            <a:srgbClr val="FFFFFF"/>
          </a:solidFill>
          <a:ln/>
        </p:spPr>
        <p:txBody>
          <a:bodyPr/>
          <a:lstStyle/>
          <a:p>
            <a:endParaRPr lang="en-IN"/>
          </a:p>
        </p:txBody>
      </p:sp>
      <p:sp>
        <p:nvSpPr>
          <p:cNvPr id="6" name="Shape 4"/>
          <p:cNvSpPr/>
          <p:nvPr/>
        </p:nvSpPr>
        <p:spPr>
          <a:xfrm>
            <a:off x="457200" y="1234440"/>
            <a:ext cx="73152" cy="777240"/>
          </a:xfrm>
          <a:prstGeom prst="rect">
            <a:avLst/>
          </a:prstGeom>
          <a:solidFill>
            <a:srgbClr val="22C55E"/>
          </a:solidFill>
          <a:ln/>
        </p:spPr>
        <p:txBody>
          <a:bodyPr/>
          <a:lstStyle/>
          <a:p>
            <a:endParaRPr lang="en-IN"/>
          </a:p>
        </p:txBody>
      </p:sp>
      <p:sp>
        <p:nvSpPr>
          <p:cNvPr id="7" name="Shape 5"/>
          <p:cNvSpPr/>
          <p:nvPr/>
        </p:nvSpPr>
        <p:spPr>
          <a:xfrm>
            <a:off x="640080" y="1371600"/>
            <a:ext cx="914400" cy="228600"/>
          </a:xfrm>
          <a:prstGeom prst="rect">
            <a:avLst/>
          </a:prstGeom>
          <a:solidFill>
            <a:srgbClr val="22C55E"/>
          </a:solidFill>
          <a:ln/>
        </p:spPr>
        <p:txBody>
          <a:bodyPr/>
          <a:lstStyle/>
          <a:p>
            <a:endParaRPr lang="en-IN"/>
          </a:p>
        </p:txBody>
      </p:sp>
      <p:sp>
        <p:nvSpPr>
          <p:cNvPr id="8" name="Text 6"/>
          <p:cNvSpPr/>
          <p:nvPr/>
        </p:nvSpPr>
        <p:spPr>
          <a:xfrm>
            <a:off x="640080" y="137160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LOW RISK</a:t>
            </a:r>
            <a:endParaRPr lang="en-US" sz="800" dirty="0"/>
          </a:p>
        </p:txBody>
      </p:sp>
      <p:sp>
        <p:nvSpPr>
          <p:cNvPr id="9" name="Text 7"/>
          <p:cNvSpPr/>
          <p:nvPr/>
        </p:nvSpPr>
        <p:spPr>
          <a:xfrm>
            <a:off x="640080" y="164592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Full Automation</a:t>
            </a:r>
            <a:endParaRPr lang="en-US" sz="1000" dirty="0"/>
          </a:p>
        </p:txBody>
      </p:sp>
      <p:sp>
        <p:nvSpPr>
          <p:cNvPr id="10" name="Text 8"/>
          <p:cNvSpPr/>
          <p:nvPr/>
        </p:nvSpPr>
        <p:spPr>
          <a:xfrm>
            <a:off x="2377440" y="132588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decides and acts autonomously</a:t>
            </a:r>
            <a:endParaRPr lang="en-US" sz="900" dirty="0"/>
          </a:p>
        </p:txBody>
      </p:sp>
      <p:sp>
        <p:nvSpPr>
          <p:cNvPr id="11" name="Text 9"/>
          <p:cNvSpPr/>
          <p:nvPr/>
        </p:nvSpPr>
        <p:spPr>
          <a:xfrm>
            <a:off x="2377440" y="164592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None — post-facto audit only</a:t>
            </a:r>
            <a:endParaRPr lang="en-US" sz="900" dirty="0"/>
          </a:p>
        </p:txBody>
      </p:sp>
      <p:sp>
        <p:nvSpPr>
          <p:cNvPr id="12" name="Text 10"/>
          <p:cNvSpPr/>
          <p:nvPr/>
        </p:nvSpPr>
        <p:spPr>
          <a:xfrm>
            <a:off x="5029200" y="146304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Claim acknowledgement, premium receipt</a:t>
            </a:r>
            <a:endParaRPr lang="en-US" sz="1000" dirty="0"/>
          </a:p>
        </p:txBody>
      </p:sp>
      <p:sp>
        <p:nvSpPr>
          <p:cNvPr id="13" name="Shape 11"/>
          <p:cNvSpPr/>
          <p:nvPr/>
        </p:nvSpPr>
        <p:spPr>
          <a:xfrm>
            <a:off x="457200" y="2103120"/>
            <a:ext cx="8229600" cy="777240"/>
          </a:xfrm>
          <a:prstGeom prst="rect">
            <a:avLst/>
          </a:prstGeom>
          <a:solidFill>
            <a:srgbClr val="F1F5F9"/>
          </a:solidFill>
          <a:ln/>
        </p:spPr>
        <p:txBody>
          <a:bodyPr/>
          <a:lstStyle/>
          <a:p>
            <a:endParaRPr lang="en-IN"/>
          </a:p>
        </p:txBody>
      </p:sp>
      <p:sp>
        <p:nvSpPr>
          <p:cNvPr id="14" name="Shape 12"/>
          <p:cNvSpPr/>
          <p:nvPr/>
        </p:nvSpPr>
        <p:spPr>
          <a:xfrm>
            <a:off x="457200" y="2103120"/>
            <a:ext cx="73152" cy="777240"/>
          </a:xfrm>
          <a:prstGeom prst="rect">
            <a:avLst/>
          </a:prstGeom>
          <a:solidFill>
            <a:srgbClr val="F59E0B"/>
          </a:solidFill>
          <a:ln/>
        </p:spPr>
        <p:txBody>
          <a:bodyPr/>
          <a:lstStyle/>
          <a:p>
            <a:endParaRPr lang="en-IN"/>
          </a:p>
        </p:txBody>
      </p:sp>
      <p:sp>
        <p:nvSpPr>
          <p:cNvPr id="15" name="Shape 13"/>
          <p:cNvSpPr/>
          <p:nvPr/>
        </p:nvSpPr>
        <p:spPr>
          <a:xfrm>
            <a:off x="640080" y="2240280"/>
            <a:ext cx="914400" cy="228600"/>
          </a:xfrm>
          <a:prstGeom prst="rect">
            <a:avLst/>
          </a:prstGeom>
          <a:solidFill>
            <a:srgbClr val="F59E0B"/>
          </a:solidFill>
          <a:ln/>
        </p:spPr>
        <p:txBody>
          <a:bodyPr/>
          <a:lstStyle/>
          <a:p>
            <a:endParaRPr lang="en-IN"/>
          </a:p>
        </p:txBody>
      </p:sp>
      <p:sp>
        <p:nvSpPr>
          <p:cNvPr id="16" name="Text 14"/>
          <p:cNvSpPr/>
          <p:nvPr/>
        </p:nvSpPr>
        <p:spPr>
          <a:xfrm>
            <a:off x="640080" y="224028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MEDIUM</a:t>
            </a:r>
            <a:endParaRPr lang="en-US" sz="800" dirty="0"/>
          </a:p>
        </p:txBody>
      </p:sp>
      <p:sp>
        <p:nvSpPr>
          <p:cNvPr id="17" name="Text 15"/>
          <p:cNvSpPr/>
          <p:nvPr/>
        </p:nvSpPr>
        <p:spPr>
          <a:xfrm>
            <a:off x="640080" y="251460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AI Recommends, Human Approves</a:t>
            </a:r>
            <a:endParaRPr lang="en-US" sz="1000" dirty="0"/>
          </a:p>
        </p:txBody>
      </p:sp>
      <p:sp>
        <p:nvSpPr>
          <p:cNvPr id="18" name="Text 16"/>
          <p:cNvSpPr/>
          <p:nvPr/>
        </p:nvSpPr>
        <p:spPr>
          <a:xfrm>
            <a:off x="2377440" y="219456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triages and recommends</a:t>
            </a:r>
            <a:endParaRPr lang="en-US" sz="900" dirty="0"/>
          </a:p>
        </p:txBody>
      </p:sp>
      <p:sp>
        <p:nvSpPr>
          <p:cNvPr id="19" name="Text 17"/>
          <p:cNvSpPr/>
          <p:nvPr/>
        </p:nvSpPr>
        <p:spPr>
          <a:xfrm>
            <a:off x="2377440" y="251460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Reviews, approves or rejects</a:t>
            </a:r>
            <a:endParaRPr lang="en-US" sz="900" dirty="0"/>
          </a:p>
        </p:txBody>
      </p:sp>
      <p:sp>
        <p:nvSpPr>
          <p:cNvPr id="20" name="Text 18"/>
          <p:cNvSpPr/>
          <p:nvPr/>
        </p:nvSpPr>
        <p:spPr>
          <a:xfrm>
            <a:off x="5029200" y="233172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Standard claim (₹1–10L)</a:t>
            </a:r>
            <a:endParaRPr lang="en-US" sz="1000" dirty="0"/>
          </a:p>
        </p:txBody>
      </p:sp>
      <p:sp>
        <p:nvSpPr>
          <p:cNvPr id="21" name="Shape 19"/>
          <p:cNvSpPr/>
          <p:nvPr/>
        </p:nvSpPr>
        <p:spPr>
          <a:xfrm>
            <a:off x="457200" y="2971800"/>
            <a:ext cx="8229600" cy="777240"/>
          </a:xfrm>
          <a:prstGeom prst="rect">
            <a:avLst/>
          </a:prstGeom>
          <a:solidFill>
            <a:srgbClr val="FFFFFF"/>
          </a:solidFill>
          <a:ln/>
        </p:spPr>
        <p:txBody>
          <a:bodyPr/>
          <a:lstStyle/>
          <a:p>
            <a:endParaRPr lang="en-IN"/>
          </a:p>
        </p:txBody>
      </p:sp>
      <p:sp>
        <p:nvSpPr>
          <p:cNvPr id="22" name="Shape 20"/>
          <p:cNvSpPr/>
          <p:nvPr/>
        </p:nvSpPr>
        <p:spPr>
          <a:xfrm>
            <a:off x="457200" y="2971800"/>
            <a:ext cx="73152" cy="777240"/>
          </a:xfrm>
          <a:prstGeom prst="rect">
            <a:avLst/>
          </a:prstGeom>
          <a:solidFill>
            <a:srgbClr val="EF4444"/>
          </a:solidFill>
          <a:ln/>
        </p:spPr>
        <p:txBody>
          <a:bodyPr/>
          <a:lstStyle/>
          <a:p>
            <a:endParaRPr lang="en-IN"/>
          </a:p>
        </p:txBody>
      </p:sp>
      <p:sp>
        <p:nvSpPr>
          <p:cNvPr id="23" name="Shape 21"/>
          <p:cNvSpPr/>
          <p:nvPr/>
        </p:nvSpPr>
        <p:spPr>
          <a:xfrm>
            <a:off x="640080" y="3108960"/>
            <a:ext cx="914400" cy="228600"/>
          </a:xfrm>
          <a:prstGeom prst="rect">
            <a:avLst/>
          </a:prstGeom>
          <a:solidFill>
            <a:srgbClr val="EF4444"/>
          </a:solidFill>
          <a:ln/>
        </p:spPr>
        <p:txBody>
          <a:bodyPr/>
          <a:lstStyle/>
          <a:p>
            <a:endParaRPr lang="en-IN"/>
          </a:p>
        </p:txBody>
      </p:sp>
      <p:sp>
        <p:nvSpPr>
          <p:cNvPr id="24" name="Text 22"/>
          <p:cNvSpPr/>
          <p:nvPr/>
        </p:nvSpPr>
        <p:spPr>
          <a:xfrm>
            <a:off x="640080" y="310896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HIGH RISK</a:t>
            </a:r>
            <a:endParaRPr lang="en-US" sz="800" dirty="0"/>
          </a:p>
        </p:txBody>
      </p:sp>
      <p:sp>
        <p:nvSpPr>
          <p:cNvPr id="25" name="Text 23"/>
          <p:cNvSpPr/>
          <p:nvPr/>
        </p:nvSpPr>
        <p:spPr>
          <a:xfrm>
            <a:off x="640080" y="338328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Human Decides, AI Assists</a:t>
            </a:r>
            <a:endParaRPr lang="en-US" sz="1000" dirty="0"/>
          </a:p>
        </p:txBody>
      </p:sp>
      <p:sp>
        <p:nvSpPr>
          <p:cNvPr id="26" name="Text 24"/>
          <p:cNvSpPr/>
          <p:nvPr/>
        </p:nvSpPr>
        <p:spPr>
          <a:xfrm>
            <a:off x="2377440" y="306324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gathers data and presents context</a:t>
            </a:r>
            <a:endParaRPr lang="en-US" sz="900" dirty="0"/>
          </a:p>
        </p:txBody>
      </p:sp>
      <p:sp>
        <p:nvSpPr>
          <p:cNvPr id="27" name="Text 25"/>
          <p:cNvSpPr/>
          <p:nvPr/>
        </p:nvSpPr>
        <p:spPr>
          <a:xfrm>
            <a:off x="2377440" y="338328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Makes decision with full authority</a:t>
            </a:r>
            <a:endParaRPr lang="en-US" sz="900" dirty="0"/>
          </a:p>
        </p:txBody>
      </p:sp>
      <p:sp>
        <p:nvSpPr>
          <p:cNvPr id="28" name="Text 26"/>
          <p:cNvSpPr/>
          <p:nvPr/>
        </p:nvSpPr>
        <p:spPr>
          <a:xfrm>
            <a:off x="5029200" y="320040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High-value claim (&gt;₹10L)</a:t>
            </a:r>
            <a:endParaRPr lang="en-US" sz="1000" dirty="0"/>
          </a:p>
        </p:txBody>
      </p:sp>
      <p:sp>
        <p:nvSpPr>
          <p:cNvPr id="29" name="Shape 27"/>
          <p:cNvSpPr/>
          <p:nvPr/>
        </p:nvSpPr>
        <p:spPr>
          <a:xfrm>
            <a:off x="457200" y="3840480"/>
            <a:ext cx="8229600" cy="777240"/>
          </a:xfrm>
          <a:prstGeom prst="rect">
            <a:avLst/>
          </a:prstGeom>
          <a:solidFill>
            <a:srgbClr val="F1F5F9"/>
          </a:solidFill>
          <a:ln/>
        </p:spPr>
        <p:txBody>
          <a:bodyPr/>
          <a:lstStyle/>
          <a:p>
            <a:endParaRPr lang="en-IN"/>
          </a:p>
        </p:txBody>
      </p:sp>
      <p:sp>
        <p:nvSpPr>
          <p:cNvPr id="30" name="Shape 28"/>
          <p:cNvSpPr/>
          <p:nvPr/>
        </p:nvSpPr>
        <p:spPr>
          <a:xfrm>
            <a:off x="457200" y="3840480"/>
            <a:ext cx="73152" cy="777240"/>
          </a:xfrm>
          <a:prstGeom prst="rect">
            <a:avLst/>
          </a:prstGeom>
          <a:solidFill>
            <a:srgbClr val="8B5CF6"/>
          </a:solidFill>
          <a:ln/>
        </p:spPr>
        <p:txBody>
          <a:bodyPr/>
          <a:lstStyle/>
          <a:p>
            <a:endParaRPr lang="en-IN"/>
          </a:p>
        </p:txBody>
      </p:sp>
      <p:sp>
        <p:nvSpPr>
          <p:cNvPr id="31" name="Shape 29"/>
          <p:cNvSpPr/>
          <p:nvPr/>
        </p:nvSpPr>
        <p:spPr>
          <a:xfrm>
            <a:off x="640080" y="3977640"/>
            <a:ext cx="914400" cy="228600"/>
          </a:xfrm>
          <a:prstGeom prst="rect">
            <a:avLst/>
          </a:prstGeom>
          <a:solidFill>
            <a:srgbClr val="8B5CF6"/>
          </a:solidFill>
          <a:ln/>
        </p:spPr>
        <p:txBody>
          <a:bodyPr/>
          <a:lstStyle/>
          <a:p>
            <a:endParaRPr lang="en-IN"/>
          </a:p>
        </p:txBody>
      </p:sp>
      <p:sp>
        <p:nvSpPr>
          <p:cNvPr id="32" name="Text 30"/>
          <p:cNvSpPr/>
          <p:nvPr/>
        </p:nvSpPr>
        <p:spPr>
          <a:xfrm>
            <a:off x="640080" y="397764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CRITICAL</a:t>
            </a:r>
            <a:endParaRPr lang="en-US" sz="800" dirty="0"/>
          </a:p>
        </p:txBody>
      </p:sp>
      <p:sp>
        <p:nvSpPr>
          <p:cNvPr id="33" name="Text 31"/>
          <p:cNvSpPr/>
          <p:nvPr/>
        </p:nvSpPr>
        <p:spPr>
          <a:xfrm>
            <a:off x="640080" y="425196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Mandatory Multi-Approver</a:t>
            </a:r>
            <a:endParaRPr lang="en-US" sz="1000" dirty="0"/>
          </a:p>
        </p:txBody>
      </p:sp>
      <p:sp>
        <p:nvSpPr>
          <p:cNvPr id="34" name="Text 32"/>
          <p:cNvSpPr/>
          <p:nvPr/>
        </p:nvSpPr>
        <p:spPr>
          <a:xfrm>
            <a:off x="2377440" y="393192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prepares the case file</a:t>
            </a:r>
            <a:endParaRPr lang="en-US" sz="900" dirty="0"/>
          </a:p>
        </p:txBody>
      </p:sp>
      <p:sp>
        <p:nvSpPr>
          <p:cNvPr id="35" name="Text 33"/>
          <p:cNvSpPr/>
          <p:nvPr/>
        </p:nvSpPr>
        <p:spPr>
          <a:xfrm>
            <a:off x="2377440" y="425196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Multiple humans approve in sequence</a:t>
            </a:r>
            <a:endParaRPr lang="en-US" sz="900" dirty="0"/>
          </a:p>
        </p:txBody>
      </p:sp>
      <p:sp>
        <p:nvSpPr>
          <p:cNvPr id="36" name="Text 34"/>
          <p:cNvSpPr/>
          <p:nvPr/>
        </p:nvSpPr>
        <p:spPr>
          <a:xfrm>
            <a:off x="5029200" y="406908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Claims &gt;₹25L (multi-level chain)</a:t>
            </a:r>
            <a:endParaRPr lang="en-US" sz="1000" dirty="0"/>
          </a:p>
        </p:txBody>
      </p:sp>
      <p:sp>
        <p:nvSpPr>
          <p:cNvPr id="37" name="Shape 35"/>
          <p:cNvSpPr/>
          <p:nvPr/>
        </p:nvSpPr>
        <p:spPr>
          <a:xfrm>
            <a:off x="0" y="4846320"/>
            <a:ext cx="9144000" cy="297180"/>
          </a:xfrm>
          <a:prstGeom prst="rect">
            <a:avLst/>
          </a:prstGeom>
          <a:solidFill>
            <a:srgbClr val="F1F5F9"/>
          </a:solidFill>
          <a:ln/>
        </p:spPr>
        <p:txBody>
          <a:bodyPr/>
          <a:lstStyle/>
          <a:p>
            <a:endParaRPr lang="en-IN"/>
          </a:p>
        </p:txBody>
      </p:sp>
      <p:sp>
        <p:nvSpPr>
          <p:cNvPr id="38" name="Text 36"/>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9" name="Text 37"/>
          <p:cNvSpPr/>
          <p:nvPr/>
        </p:nvSpPr>
        <p:spPr>
          <a:xfrm>
            <a:off x="7955280" y="4869543"/>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02</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Power Automate</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Approval Architecture</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Enterprise-Grade HITL Implementation</a:t>
            </a:r>
            <a:endParaRPr lang="en-US" sz="1500" dirty="0"/>
          </a:p>
        </p:txBody>
      </p:sp>
      <p:sp>
        <p:nvSpPr>
          <p:cNvPr id="6" name="Text 19">
            <a:extLst>
              <a:ext uri="{FF2B5EF4-FFF2-40B4-BE49-F238E27FC236}">
                <a16:creationId xmlns:a16="http://schemas.microsoft.com/office/drawing/2014/main" id="{52A4D001-5769-E7E9-84E8-74A7F5FF2FB1}"/>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9 / 28</a:t>
            </a:r>
            <a:endParaRPr lang="en-US" sz="9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Approval Components</a:t>
            </a:r>
            <a:endParaRPr lang="en-US" sz="3000" dirty="0"/>
          </a:p>
        </p:txBody>
      </p:sp>
      <p:sp>
        <p:nvSpPr>
          <p:cNvPr id="4" name="Shape 2"/>
          <p:cNvSpPr/>
          <p:nvPr/>
        </p:nvSpPr>
        <p:spPr>
          <a:xfrm>
            <a:off x="457200" y="914400"/>
            <a:ext cx="4114800" cy="1143000"/>
          </a:xfrm>
          <a:prstGeom prst="rect">
            <a:avLst/>
          </a:prstGeom>
          <a:solidFill>
            <a:srgbClr val="F1F5F9"/>
          </a:solidFill>
          <a:ln/>
        </p:spPr>
        <p:txBody>
          <a:bodyPr/>
          <a:lstStyle/>
          <a:p>
            <a:endParaRPr lang="en-IN"/>
          </a:p>
        </p:txBody>
      </p:sp>
      <p:sp>
        <p:nvSpPr>
          <p:cNvPr id="5" name="Text 3"/>
          <p:cNvSpPr/>
          <p:nvPr/>
        </p:nvSpPr>
        <p:spPr>
          <a:xfrm>
            <a:off x="594360" y="105156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6" name="Text 4"/>
          <p:cNvSpPr/>
          <p:nvPr/>
        </p:nvSpPr>
        <p:spPr>
          <a:xfrm>
            <a:off x="1005840" y="100584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Approval Request</a:t>
            </a:r>
            <a:endParaRPr lang="en-US" sz="1200" dirty="0"/>
          </a:p>
        </p:txBody>
      </p:sp>
      <p:sp>
        <p:nvSpPr>
          <p:cNvPr id="7" name="Text 5"/>
          <p:cNvSpPr/>
          <p:nvPr/>
        </p:nvSpPr>
        <p:spPr>
          <a:xfrm>
            <a:off x="1005840" y="132588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Structured request sent to approvers</a:t>
            </a:r>
            <a:endParaRPr lang="en-US" sz="1000" dirty="0"/>
          </a:p>
        </p:txBody>
      </p:sp>
      <p:sp>
        <p:nvSpPr>
          <p:cNvPr id="8" name="Text 6"/>
          <p:cNvSpPr/>
          <p:nvPr/>
        </p:nvSpPr>
        <p:spPr>
          <a:xfrm>
            <a:off x="594360" y="164592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Created via "Start and wait for an approval" action</a:t>
            </a:r>
            <a:endParaRPr lang="en-US" sz="900" dirty="0"/>
          </a:p>
        </p:txBody>
      </p:sp>
      <p:sp>
        <p:nvSpPr>
          <p:cNvPr id="9" name="Shape 7"/>
          <p:cNvSpPr/>
          <p:nvPr/>
        </p:nvSpPr>
        <p:spPr>
          <a:xfrm>
            <a:off x="4754880" y="914400"/>
            <a:ext cx="4114800" cy="1143000"/>
          </a:xfrm>
          <a:prstGeom prst="rect">
            <a:avLst/>
          </a:prstGeom>
          <a:solidFill>
            <a:srgbClr val="F1F5F9"/>
          </a:solidFill>
          <a:ln/>
        </p:spPr>
        <p:txBody>
          <a:bodyPr/>
          <a:lstStyle/>
          <a:p>
            <a:endParaRPr lang="en-IN"/>
          </a:p>
        </p:txBody>
      </p:sp>
      <p:sp>
        <p:nvSpPr>
          <p:cNvPr id="10" name="Text 8"/>
          <p:cNvSpPr/>
          <p:nvPr/>
        </p:nvSpPr>
        <p:spPr>
          <a:xfrm>
            <a:off x="4892040" y="105156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1" name="Text 9"/>
          <p:cNvSpPr/>
          <p:nvPr/>
        </p:nvSpPr>
        <p:spPr>
          <a:xfrm>
            <a:off x="5303520" y="100584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Approval Type</a:t>
            </a:r>
            <a:endParaRPr lang="en-US" sz="1200" dirty="0"/>
          </a:p>
        </p:txBody>
      </p:sp>
      <p:sp>
        <p:nvSpPr>
          <p:cNvPr id="12" name="Text 10"/>
          <p:cNvSpPr/>
          <p:nvPr/>
        </p:nvSpPr>
        <p:spPr>
          <a:xfrm>
            <a:off x="5303520" y="132588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Routing pattern configuration</a:t>
            </a:r>
            <a:endParaRPr lang="en-US" sz="1000" dirty="0"/>
          </a:p>
        </p:txBody>
      </p:sp>
      <p:sp>
        <p:nvSpPr>
          <p:cNvPr id="13" name="Text 11"/>
          <p:cNvSpPr/>
          <p:nvPr/>
        </p:nvSpPr>
        <p:spPr>
          <a:xfrm>
            <a:off x="4892040" y="164592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Approve/Reject, First to Respond, Everyone Must Approve, Custom</a:t>
            </a:r>
            <a:endParaRPr lang="en-US" sz="900" dirty="0"/>
          </a:p>
        </p:txBody>
      </p:sp>
      <p:sp>
        <p:nvSpPr>
          <p:cNvPr id="14" name="Shape 12"/>
          <p:cNvSpPr/>
          <p:nvPr/>
        </p:nvSpPr>
        <p:spPr>
          <a:xfrm>
            <a:off x="457200" y="2194560"/>
            <a:ext cx="4114800" cy="1143000"/>
          </a:xfrm>
          <a:prstGeom prst="rect">
            <a:avLst/>
          </a:prstGeom>
          <a:solidFill>
            <a:srgbClr val="F1F5F9"/>
          </a:solidFill>
          <a:ln/>
        </p:spPr>
        <p:txBody>
          <a:bodyPr/>
          <a:lstStyle/>
          <a:p>
            <a:endParaRPr lang="en-IN"/>
          </a:p>
        </p:txBody>
      </p:sp>
      <p:sp>
        <p:nvSpPr>
          <p:cNvPr id="15" name="Text 13"/>
          <p:cNvSpPr/>
          <p:nvPr/>
        </p:nvSpPr>
        <p:spPr>
          <a:xfrm>
            <a:off x="594360" y="233172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6" name="Text 14"/>
          <p:cNvSpPr/>
          <p:nvPr/>
        </p:nvSpPr>
        <p:spPr>
          <a:xfrm>
            <a:off x="1005840" y="228600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Approver(s)</a:t>
            </a:r>
            <a:endParaRPr lang="en-US" sz="1200" dirty="0"/>
          </a:p>
        </p:txBody>
      </p:sp>
      <p:sp>
        <p:nvSpPr>
          <p:cNvPr id="17" name="Text 15"/>
          <p:cNvSpPr/>
          <p:nvPr/>
        </p:nvSpPr>
        <p:spPr>
          <a:xfrm>
            <a:off x="1005840" y="260604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People who receive and act on requests</a:t>
            </a:r>
            <a:endParaRPr lang="en-US" sz="1000" dirty="0"/>
          </a:p>
        </p:txBody>
      </p:sp>
      <p:sp>
        <p:nvSpPr>
          <p:cNvPr id="18" name="Text 16"/>
          <p:cNvSpPr/>
          <p:nvPr/>
        </p:nvSpPr>
        <p:spPr>
          <a:xfrm>
            <a:off x="594360" y="292608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Specified by email; can be dynamic from Dataverse lookup</a:t>
            </a:r>
            <a:endParaRPr lang="en-US" sz="900" dirty="0"/>
          </a:p>
        </p:txBody>
      </p:sp>
      <p:sp>
        <p:nvSpPr>
          <p:cNvPr id="19" name="Shape 17"/>
          <p:cNvSpPr/>
          <p:nvPr/>
        </p:nvSpPr>
        <p:spPr>
          <a:xfrm>
            <a:off x="4754880" y="2194560"/>
            <a:ext cx="4114800" cy="1143000"/>
          </a:xfrm>
          <a:prstGeom prst="rect">
            <a:avLst/>
          </a:prstGeom>
          <a:solidFill>
            <a:srgbClr val="F1F5F9"/>
          </a:solidFill>
          <a:ln/>
        </p:spPr>
        <p:txBody>
          <a:bodyPr/>
          <a:lstStyle/>
          <a:p>
            <a:endParaRPr lang="en-IN"/>
          </a:p>
        </p:txBody>
      </p:sp>
      <p:sp>
        <p:nvSpPr>
          <p:cNvPr id="20" name="Text 18"/>
          <p:cNvSpPr/>
          <p:nvPr/>
        </p:nvSpPr>
        <p:spPr>
          <a:xfrm>
            <a:off x="4892040" y="233172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1" name="Text 19"/>
          <p:cNvSpPr/>
          <p:nvPr/>
        </p:nvSpPr>
        <p:spPr>
          <a:xfrm>
            <a:off x="5303520" y="228600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Notification Channel</a:t>
            </a:r>
            <a:endParaRPr lang="en-US" sz="1200" dirty="0"/>
          </a:p>
        </p:txBody>
      </p:sp>
      <p:sp>
        <p:nvSpPr>
          <p:cNvPr id="22" name="Text 20"/>
          <p:cNvSpPr/>
          <p:nvPr/>
        </p:nvSpPr>
        <p:spPr>
          <a:xfrm>
            <a:off x="5303520" y="260604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How approvers are notified</a:t>
            </a:r>
            <a:endParaRPr lang="en-US" sz="1000" dirty="0"/>
          </a:p>
        </p:txBody>
      </p:sp>
      <p:sp>
        <p:nvSpPr>
          <p:cNvPr id="23" name="Text 21"/>
          <p:cNvSpPr/>
          <p:nvPr/>
        </p:nvSpPr>
        <p:spPr>
          <a:xfrm>
            <a:off x="4892040" y="292608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Teams, Email, Power Automate mobile app (all three!)</a:t>
            </a:r>
            <a:endParaRPr lang="en-US" sz="900" dirty="0"/>
          </a:p>
        </p:txBody>
      </p:sp>
      <p:sp>
        <p:nvSpPr>
          <p:cNvPr id="24" name="Shape 22"/>
          <p:cNvSpPr/>
          <p:nvPr/>
        </p:nvSpPr>
        <p:spPr>
          <a:xfrm>
            <a:off x="457200" y="3474720"/>
            <a:ext cx="4114800" cy="1143000"/>
          </a:xfrm>
          <a:prstGeom prst="rect">
            <a:avLst/>
          </a:prstGeom>
          <a:solidFill>
            <a:srgbClr val="F1F5F9"/>
          </a:solidFill>
          <a:ln/>
        </p:spPr>
        <p:txBody>
          <a:bodyPr/>
          <a:lstStyle/>
          <a:p>
            <a:endParaRPr lang="en-IN"/>
          </a:p>
        </p:txBody>
      </p:sp>
      <p:sp>
        <p:nvSpPr>
          <p:cNvPr id="25" name="Text 23"/>
          <p:cNvSpPr/>
          <p:nvPr/>
        </p:nvSpPr>
        <p:spPr>
          <a:xfrm>
            <a:off x="594360" y="361188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6" name="Text 24"/>
          <p:cNvSpPr/>
          <p:nvPr/>
        </p:nvSpPr>
        <p:spPr>
          <a:xfrm>
            <a:off x="1005840" y="356616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Response Options</a:t>
            </a:r>
            <a:endParaRPr lang="en-US" sz="1200" dirty="0"/>
          </a:p>
        </p:txBody>
      </p:sp>
      <p:sp>
        <p:nvSpPr>
          <p:cNvPr id="27" name="Text 25"/>
          <p:cNvSpPr/>
          <p:nvPr/>
        </p:nvSpPr>
        <p:spPr>
          <a:xfrm>
            <a:off x="1005840" y="388620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What choices the approver has</a:t>
            </a:r>
            <a:endParaRPr lang="en-US" sz="1000" dirty="0"/>
          </a:p>
        </p:txBody>
      </p:sp>
      <p:sp>
        <p:nvSpPr>
          <p:cNvPr id="28" name="Text 26"/>
          <p:cNvSpPr/>
          <p:nvPr/>
        </p:nvSpPr>
        <p:spPr>
          <a:xfrm>
            <a:off x="594360" y="420624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Standard (Approve/Reject) or Custom (multiple options)</a:t>
            </a:r>
            <a:endParaRPr lang="en-US" sz="900" dirty="0"/>
          </a:p>
        </p:txBody>
      </p:sp>
      <p:sp>
        <p:nvSpPr>
          <p:cNvPr id="29" name="Shape 27"/>
          <p:cNvSpPr/>
          <p:nvPr/>
        </p:nvSpPr>
        <p:spPr>
          <a:xfrm>
            <a:off x="4754880" y="3474720"/>
            <a:ext cx="4114800" cy="1143000"/>
          </a:xfrm>
          <a:prstGeom prst="rect">
            <a:avLst/>
          </a:prstGeom>
          <a:solidFill>
            <a:srgbClr val="F1F5F9"/>
          </a:solidFill>
          <a:ln/>
        </p:spPr>
        <p:txBody>
          <a:bodyPr/>
          <a:lstStyle/>
          <a:p>
            <a:endParaRPr lang="en-IN"/>
          </a:p>
        </p:txBody>
      </p:sp>
      <p:sp>
        <p:nvSpPr>
          <p:cNvPr id="30" name="Text 28"/>
          <p:cNvSpPr/>
          <p:nvPr/>
        </p:nvSpPr>
        <p:spPr>
          <a:xfrm>
            <a:off x="4892040" y="361188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31" name="Text 29"/>
          <p:cNvSpPr/>
          <p:nvPr/>
        </p:nvSpPr>
        <p:spPr>
          <a:xfrm>
            <a:off x="5303520" y="356616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Outcome Processing</a:t>
            </a:r>
            <a:endParaRPr lang="en-US" sz="1200" dirty="0"/>
          </a:p>
        </p:txBody>
      </p:sp>
      <p:sp>
        <p:nvSpPr>
          <p:cNvPr id="32" name="Text 30"/>
          <p:cNvSpPr/>
          <p:nvPr/>
        </p:nvSpPr>
        <p:spPr>
          <a:xfrm>
            <a:off x="5303520" y="388620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What happens after decision</a:t>
            </a:r>
            <a:endParaRPr lang="en-US" sz="1000" dirty="0"/>
          </a:p>
        </p:txBody>
      </p:sp>
      <p:sp>
        <p:nvSpPr>
          <p:cNvPr id="33" name="Text 31"/>
          <p:cNvSpPr/>
          <p:nvPr/>
        </p:nvSpPr>
        <p:spPr>
          <a:xfrm>
            <a:off x="4892040" y="420624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continues with branching logic based on response</a:t>
            </a:r>
            <a:endParaRPr lang="en-US" sz="900" dirty="0"/>
          </a:p>
        </p:txBody>
      </p:sp>
      <p:sp>
        <p:nvSpPr>
          <p:cNvPr id="34" name="Shape 32"/>
          <p:cNvSpPr/>
          <p:nvPr/>
        </p:nvSpPr>
        <p:spPr>
          <a:xfrm>
            <a:off x="0" y="4846320"/>
            <a:ext cx="9144000" cy="297180"/>
          </a:xfrm>
          <a:prstGeom prst="rect">
            <a:avLst/>
          </a:prstGeom>
          <a:solidFill>
            <a:srgbClr val="F1F5F9"/>
          </a:solidFill>
          <a:ln/>
        </p:spPr>
        <p:txBody>
          <a:bodyPr/>
          <a:lstStyle/>
          <a:p>
            <a:endParaRPr lang="en-IN"/>
          </a:p>
        </p:txBody>
      </p:sp>
      <p:sp>
        <p:nvSpPr>
          <p:cNvPr id="35" name="Text 3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6" name="Text 34"/>
          <p:cNvSpPr/>
          <p:nvPr/>
        </p:nvSpPr>
        <p:spPr>
          <a:xfrm>
            <a:off x="8006080" y="4877889"/>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Four Approval Types</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Power Automate supports four approval types. Choose based on your business process requirements:</a:t>
            </a:r>
            <a:endParaRPr lang="en-US" sz="1200" dirty="0"/>
          </a:p>
        </p:txBody>
      </p:sp>
      <p:sp>
        <p:nvSpPr>
          <p:cNvPr id="5" name="Shape 3"/>
          <p:cNvSpPr/>
          <p:nvPr/>
        </p:nvSpPr>
        <p:spPr>
          <a:xfrm>
            <a:off x="457200" y="1234440"/>
            <a:ext cx="8229600" cy="777240"/>
          </a:xfrm>
          <a:prstGeom prst="rect">
            <a:avLst/>
          </a:prstGeom>
          <a:solidFill>
            <a:srgbClr val="FFFFFF"/>
          </a:solidFill>
          <a:ln/>
        </p:spPr>
        <p:txBody>
          <a:bodyPr/>
          <a:lstStyle/>
          <a:p>
            <a:endParaRPr lang="en-IN"/>
          </a:p>
        </p:txBody>
      </p:sp>
      <p:sp>
        <p:nvSpPr>
          <p:cNvPr id="6" name="Shape 4"/>
          <p:cNvSpPr/>
          <p:nvPr/>
        </p:nvSpPr>
        <p:spPr>
          <a:xfrm>
            <a:off x="457200" y="1234440"/>
            <a:ext cx="73152" cy="777240"/>
          </a:xfrm>
          <a:prstGeom prst="rect">
            <a:avLst/>
          </a:prstGeom>
          <a:solidFill>
            <a:srgbClr val="0891B2"/>
          </a:solidFill>
          <a:ln/>
        </p:spPr>
        <p:txBody>
          <a:bodyPr/>
          <a:lstStyle/>
          <a:p>
            <a:endParaRPr lang="en-IN"/>
          </a:p>
        </p:txBody>
      </p:sp>
      <p:sp>
        <p:nvSpPr>
          <p:cNvPr id="7" name="Text 5"/>
          <p:cNvSpPr/>
          <p:nvPr/>
        </p:nvSpPr>
        <p:spPr>
          <a:xfrm>
            <a:off x="640080" y="1325880"/>
            <a:ext cx="2011680" cy="32004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Approve/Reject</a:t>
            </a:r>
            <a:endParaRPr lang="en-US" sz="1300" dirty="0"/>
          </a:p>
        </p:txBody>
      </p:sp>
      <p:sp>
        <p:nvSpPr>
          <p:cNvPr id="8" name="Text 6"/>
          <p:cNvSpPr/>
          <p:nvPr/>
        </p:nvSpPr>
        <p:spPr>
          <a:xfrm>
            <a:off x="640080" y="164592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Single approver chooses Approve or Reject</a:t>
            </a:r>
            <a:endParaRPr lang="en-US" sz="1000" dirty="0"/>
          </a:p>
        </p:txBody>
      </p:sp>
      <p:sp>
        <p:nvSpPr>
          <p:cNvPr id="9" name="Text 7"/>
          <p:cNvSpPr/>
          <p:nvPr/>
        </p:nvSpPr>
        <p:spPr>
          <a:xfrm>
            <a:off x="3108960" y="146304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Standard claim approval by assigned adjuster</a:t>
            </a:r>
            <a:endParaRPr lang="en-US" sz="1100" dirty="0"/>
          </a:p>
        </p:txBody>
      </p:sp>
      <p:sp>
        <p:nvSpPr>
          <p:cNvPr id="10" name="Shape 8"/>
          <p:cNvSpPr/>
          <p:nvPr/>
        </p:nvSpPr>
        <p:spPr>
          <a:xfrm>
            <a:off x="457200" y="2103120"/>
            <a:ext cx="8229600" cy="777240"/>
          </a:xfrm>
          <a:prstGeom prst="rect">
            <a:avLst/>
          </a:prstGeom>
          <a:solidFill>
            <a:srgbClr val="F1F5F9"/>
          </a:solidFill>
          <a:ln/>
        </p:spPr>
        <p:txBody>
          <a:bodyPr/>
          <a:lstStyle/>
          <a:p>
            <a:endParaRPr lang="en-IN"/>
          </a:p>
        </p:txBody>
      </p:sp>
      <p:sp>
        <p:nvSpPr>
          <p:cNvPr id="11" name="Shape 9"/>
          <p:cNvSpPr/>
          <p:nvPr/>
        </p:nvSpPr>
        <p:spPr>
          <a:xfrm>
            <a:off x="457200" y="2103120"/>
            <a:ext cx="73152" cy="777240"/>
          </a:xfrm>
          <a:prstGeom prst="rect">
            <a:avLst/>
          </a:prstGeom>
          <a:solidFill>
            <a:srgbClr val="22C55E"/>
          </a:solidFill>
          <a:ln/>
        </p:spPr>
        <p:txBody>
          <a:bodyPr/>
          <a:lstStyle/>
          <a:p>
            <a:endParaRPr lang="en-IN"/>
          </a:p>
        </p:txBody>
      </p:sp>
      <p:sp>
        <p:nvSpPr>
          <p:cNvPr id="12" name="Text 10"/>
          <p:cNvSpPr/>
          <p:nvPr/>
        </p:nvSpPr>
        <p:spPr>
          <a:xfrm>
            <a:off x="640080" y="2194560"/>
            <a:ext cx="20116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First to Respond</a:t>
            </a:r>
            <a:endParaRPr lang="en-US" sz="1300" dirty="0"/>
          </a:p>
        </p:txBody>
      </p:sp>
      <p:sp>
        <p:nvSpPr>
          <p:cNvPr id="13" name="Text 11"/>
          <p:cNvSpPr/>
          <p:nvPr/>
        </p:nvSpPr>
        <p:spPr>
          <a:xfrm>
            <a:off x="640080" y="251460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Multiple approvers; first response wins</a:t>
            </a:r>
            <a:endParaRPr lang="en-US" sz="1000" dirty="0"/>
          </a:p>
        </p:txBody>
      </p:sp>
      <p:sp>
        <p:nvSpPr>
          <p:cNvPr id="14" name="Text 12"/>
          <p:cNvSpPr/>
          <p:nvPr/>
        </p:nvSpPr>
        <p:spPr>
          <a:xfrm>
            <a:off x="3108960" y="233172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Urgent claim — any available senior adjuster can approve</a:t>
            </a:r>
            <a:endParaRPr lang="en-US" sz="1100" dirty="0"/>
          </a:p>
        </p:txBody>
      </p:sp>
      <p:sp>
        <p:nvSpPr>
          <p:cNvPr id="15" name="Shape 13"/>
          <p:cNvSpPr/>
          <p:nvPr/>
        </p:nvSpPr>
        <p:spPr>
          <a:xfrm>
            <a:off x="457200" y="2971800"/>
            <a:ext cx="8229600" cy="777240"/>
          </a:xfrm>
          <a:prstGeom prst="rect">
            <a:avLst/>
          </a:prstGeom>
          <a:solidFill>
            <a:srgbClr val="FFFFFF"/>
          </a:solidFill>
          <a:ln/>
        </p:spPr>
        <p:txBody>
          <a:bodyPr/>
          <a:lstStyle/>
          <a:p>
            <a:endParaRPr lang="en-IN"/>
          </a:p>
        </p:txBody>
      </p:sp>
      <p:sp>
        <p:nvSpPr>
          <p:cNvPr id="16" name="Shape 14"/>
          <p:cNvSpPr/>
          <p:nvPr/>
        </p:nvSpPr>
        <p:spPr>
          <a:xfrm>
            <a:off x="457200" y="2971800"/>
            <a:ext cx="73152" cy="777240"/>
          </a:xfrm>
          <a:prstGeom prst="rect">
            <a:avLst/>
          </a:prstGeom>
          <a:solidFill>
            <a:srgbClr val="F59E0B"/>
          </a:solidFill>
          <a:ln/>
        </p:spPr>
        <p:txBody>
          <a:bodyPr/>
          <a:lstStyle/>
          <a:p>
            <a:endParaRPr lang="en-IN"/>
          </a:p>
        </p:txBody>
      </p:sp>
      <p:sp>
        <p:nvSpPr>
          <p:cNvPr id="17" name="Text 15"/>
          <p:cNvSpPr/>
          <p:nvPr/>
        </p:nvSpPr>
        <p:spPr>
          <a:xfrm>
            <a:off x="640080" y="3063240"/>
            <a:ext cx="2286000" cy="320040"/>
          </a:xfrm>
          <a:prstGeom prst="rect">
            <a:avLst/>
          </a:prstGeom>
          <a:noFill/>
          <a:ln/>
        </p:spPr>
        <p:txBody>
          <a:bodyPr wrap="square" rtlCol="0" anchor="ctr"/>
          <a:lstStyle/>
          <a:p>
            <a:pPr marL="0" indent="0">
              <a:buNone/>
            </a:pPr>
            <a:r>
              <a:rPr lang="en-US" sz="1300" b="1" dirty="0">
                <a:solidFill>
                  <a:srgbClr val="F59E0B"/>
                </a:solidFill>
                <a:latin typeface="Segoe UI" pitchFamily="34" charset="0"/>
                <a:ea typeface="Segoe UI" pitchFamily="34" charset="-122"/>
                <a:cs typeface="Segoe UI" pitchFamily="34" charset="-120"/>
              </a:rPr>
              <a:t>Everyone Must Approve</a:t>
            </a:r>
            <a:endParaRPr lang="en-US" sz="1300" dirty="0"/>
          </a:p>
        </p:txBody>
      </p:sp>
      <p:sp>
        <p:nvSpPr>
          <p:cNvPr id="18" name="Text 16"/>
          <p:cNvSpPr/>
          <p:nvPr/>
        </p:nvSpPr>
        <p:spPr>
          <a:xfrm>
            <a:off x="640079" y="3383280"/>
            <a:ext cx="2400663"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All approvers must approve for success</a:t>
            </a:r>
            <a:endParaRPr lang="en-US" sz="1000" dirty="0"/>
          </a:p>
        </p:txBody>
      </p:sp>
      <p:sp>
        <p:nvSpPr>
          <p:cNvPr id="19" name="Text 17"/>
          <p:cNvSpPr/>
          <p:nvPr/>
        </p:nvSpPr>
        <p:spPr>
          <a:xfrm>
            <a:off x="3108960" y="320040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High-value claim: Claims Manager AND Compliance Officer</a:t>
            </a:r>
            <a:endParaRPr lang="en-US" sz="1100" dirty="0"/>
          </a:p>
        </p:txBody>
      </p:sp>
      <p:sp>
        <p:nvSpPr>
          <p:cNvPr id="20" name="Shape 18"/>
          <p:cNvSpPr/>
          <p:nvPr/>
        </p:nvSpPr>
        <p:spPr>
          <a:xfrm>
            <a:off x="457200" y="3840480"/>
            <a:ext cx="8229600" cy="777240"/>
          </a:xfrm>
          <a:prstGeom prst="rect">
            <a:avLst/>
          </a:prstGeom>
          <a:solidFill>
            <a:srgbClr val="F1F5F9"/>
          </a:solidFill>
          <a:ln/>
        </p:spPr>
        <p:txBody>
          <a:bodyPr/>
          <a:lstStyle/>
          <a:p>
            <a:endParaRPr lang="en-IN"/>
          </a:p>
        </p:txBody>
      </p:sp>
      <p:sp>
        <p:nvSpPr>
          <p:cNvPr id="21" name="Shape 19"/>
          <p:cNvSpPr/>
          <p:nvPr/>
        </p:nvSpPr>
        <p:spPr>
          <a:xfrm>
            <a:off x="457200" y="3840480"/>
            <a:ext cx="73152" cy="777240"/>
          </a:xfrm>
          <a:prstGeom prst="rect">
            <a:avLst/>
          </a:prstGeom>
          <a:solidFill>
            <a:srgbClr val="8B5CF6"/>
          </a:solidFill>
          <a:ln/>
        </p:spPr>
        <p:txBody>
          <a:bodyPr/>
          <a:lstStyle/>
          <a:p>
            <a:endParaRPr lang="en-IN"/>
          </a:p>
        </p:txBody>
      </p:sp>
      <p:sp>
        <p:nvSpPr>
          <p:cNvPr id="22" name="Text 20"/>
          <p:cNvSpPr/>
          <p:nvPr/>
        </p:nvSpPr>
        <p:spPr>
          <a:xfrm>
            <a:off x="640080" y="3931920"/>
            <a:ext cx="2011680" cy="320040"/>
          </a:xfrm>
          <a:prstGeom prst="rect">
            <a:avLst/>
          </a:prstGeom>
          <a:noFill/>
          <a:ln/>
        </p:spPr>
        <p:txBody>
          <a:bodyPr wrap="square" rtlCol="0" anchor="ctr"/>
          <a:lstStyle/>
          <a:p>
            <a:pPr marL="0" indent="0">
              <a:buNone/>
            </a:pPr>
            <a:r>
              <a:rPr lang="en-US" sz="1300" b="1" dirty="0">
                <a:solidFill>
                  <a:srgbClr val="8B5CF6"/>
                </a:solidFill>
                <a:latin typeface="Segoe UI" pitchFamily="34" charset="0"/>
                <a:ea typeface="Segoe UI" pitchFamily="34" charset="-122"/>
                <a:cs typeface="Segoe UI" pitchFamily="34" charset="-120"/>
              </a:rPr>
              <a:t>Custom Responses</a:t>
            </a:r>
            <a:endParaRPr lang="en-US" sz="1300" dirty="0"/>
          </a:p>
        </p:txBody>
      </p:sp>
      <p:sp>
        <p:nvSpPr>
          <p:cNvPr id="23" name="Text 21"/>
          <p:cNvSpPr/>
          <p:nvPr/>
        </p:nvSpPr>
        <p:spPr>
          <a:xfrm>
            <a:off x="640080" y="425196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Custom options (3+ choices possible)</a:t>
            </a:r>
            <a:endParaRPr lang="en-US" sz="1000" dirty="0"/>
          </a:p>
        </p:txBody>
      </p:sp>
      <p:sp>
        <p:nvSpPr>
          <p:cNvPr id="24" name="Text 22"/>
          <p:cNvSpPr/>
          <p:nvPr/>
        </p:nvSpPr>
        <p:spPr>
          <a:xfrm>
            <a:off x="3108960" y="406908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Fraud investigation: Clear / Confirm Fraud / Escalate / Hold</a:t>
            </a:r>
            <a:endParaRPr lang="en-US" sz="1100" dirty="0"/>
          </a:p>
        </p:txBody>
      </p:sp>
      <p:sp>
        <p:nvSpPr>
          <p:cNvPr id="26" name="Text 24"/>
          <p:cNvSpPr/>
          <p:nvPr/>
        </p:nvSpPr>
        <p:spPr>
          <a:xfrm>
            <a:off x="311332" y="4585716"/>
            <a:ext cx="7424057" cy="274320"/>
          </a:xfrm>
          <a:prstGeom prst="rect">
            <a:avLst/>
          </a:prstGeom>
          <a:noFill/>
          <a:ln/>
        </p:spPr>
        <p:txBody>
          <a:bodyPr wrap="square" rtlCol="0" anchor="ctr"/>
          <a:lstStyle/>
          <a:p>
            <a:pPr marL="0" indent="0">
              <a:buNone/>
            </a:pPr>
            <a:r>
              <a:rPr lang="en-US" sz="900" b="1" i="1" dirty="0">
                <a:solidFill>
                  <a:srgbClr val="8B5CF6"/>
                </a:solidFill>
                <a:latin typeface="Segoe UI" pitchFamily="34" charset="0"/>
                <a:ea typeface="Segoe UI" pitchFamily="34" charset="-122"/>
                <a:cs typeface="Segoe UI" pitchFamily="34" charset="-120"/>
              </a:rPr>
              <a:t>💡 Custom Responses are powerful for BFSI — standard Approve/Reject is often too limited for nuanced decisions</a:t>
            </a:r>
            <a:endParaRPr lang="en-US" sz="900" i="1" dirty="0"/>
          </a:p>
        </p:txBody>
      </p:sp>
      <p:sp>
        <p:nvSpPr>
          <p:cNvPr id="27" name="Shape 25"/>
          <p:cNvSpPr/>
          <p:nvPr/>
        </p:nvSpPr>
        <p:spPr>
          <a:xfrm>
            <a:off x="0" y="4846320"/>
            <a:ext cx="9144000" cy="297180"/>
          </a:xfrm>
          <a:prstGeom prst="rect">
            <a:avLst/>
          </a:prstGeom>
          <a:solidFill>
            <a:srgbClr val="F1F5F9"/>
          </a:solidFill>
          <a:ln/>
        </p:spPr>
        <p:txBody>
          <a:bodyPr/>
          <a:lstStyle/>
          <a:p>
            <a:endParaRPr lang="en-IN"/>
          </a:p>
        </p:txBody>
      </p:sp>
      <p:sp>
        <p:nvSpPr>
          <p:cNvPr id="28" name="Text 26"/>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9" name="Text 27"/>
          <p:cNvSpPr/>
          <p:nvPr/>
        </p:nvSpPr>
        <p:spPr>
          <a:xfrm>
            <a:off x="8046720" y="487063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11 / 28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Multi-Level Approval Patterns</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BFSI typically requires multi-level approvals based on value, type, and risk:</a:t>
            </a:r>
            <a:endParaRPr lang="en-US" sz="1200" dirty="0"/>
          </a:p>
        </p:txBody>
      </p:sp>
      <p:sp>
        <p:nvSpPr>
          <p:cNvPr id="5" name="Shape 3"/>
          <p:cNvSpPr/>
          <p:nvPr/>
        </p:nvSpPr>
        <p:spPr>
          <a:xfrm>
            <a:off x="457200" y="1234440"/>
            <a:ext cx="4023360" cy="1828800"/>
          </a:xfrm>
          <a:prstGeom prst="rect">
            <a:avLst/>
          </a:prstGeom>
          <a:solidFill>
            <a:srgbClr val="F1F5F9"/>
          </a:solidFill>
          <a:ln/>
        </p:spPr>
        <p:txBody>
          <a:bodyPr/>
          <a:lstStyle/>
          <a:p>
            <a:endParaRPr lang="en-IN"/>
          </a:p>
        </p:txBody>
      </p:sp>
      <p:sp>
        <p:nvSpPr>
          <p:cNvPr id="6" name="Shape 4"/>
          <p:cNvSpPr/>
          <p:nvPr/>
        </p:nvSpPr>
        <p:spPr>
          <a:xfrm>
            <a:off x="457200" y="1234440"/>
            <a:ext cx="73152" cy="1828800"/>
          </a:xfrm>
          <a:prstGeom prst="rect">
            <a:avLst/>
          </a:prstGeom>
          <a:solidFill>
            <a:srgbClr val="0891B2"/>
          </a:solidFill>
          <a:ln/>
        </p:spPr>
        <p:txBody>
          <a:bodyPr/>
          <a:lstStyle/>
          <a:p>
            <a:endParaRPr lang="en-IN"/>
          </a:p>
        </p:txBody>
      </p:sp>
      <p:sp>
        <p:nvSpPr>
          <p:cNvPr id="7" name="Text 5"/>
          <p:cNvSpPr/>
          <p:nvPr/>
        </p:nvSpPr>
        <p:spPr>
          <a:xfrm>
            <a:off x="685800" y="1325880"/>
            <a:ext cx="3657600" cy="32004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Sequential (Approval Chain)</a:t>
            </a:r>
            <a:endParaRPr lang="en-US" sz="1400" dirty="0"/>
          </a:p>
        </p:txBody>
      </p:sp>
      <p:sp>
        <p:nvSpPr>
          <p:cNvPr id="8" name="Text 6"/>
          <p:cNvSpPr/>
          <p:nvPr/>
        </p:nvSpPr>
        <p:spPr>
          <a:xfrm>
            <a:off x="685800" y="1691640"/>
            <a:ext cx="356616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Approvers routed in sequence — Level 1 must approve before Level 2 receives the request.</a:t>
            </a:r>
            <a:endParaRPr lang="en-US" sz="1100" dirty="0"/>
          </a:p>
          <a:p>
            <a:pPr marL="0" indent="0">
              <a:buNone/>
            </a:pP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If any level rejects, the chain stops immediately.</a:t>
            </a:r>
            <a:endParaRPr lang="en-US" sz="1100" dirty="0"/>
          </a:p>
        </p:txBody>
      </p:sp>
      <p:sp>
        <p:nvSpPr>
          <p:cNvPr id="9" name="Text 7"/>
          <p:cNvSpPr/>
          <p:nvPr/>
        </p:nvSpPr>
        <p:spPr>
          <a:xfrm>
            <a:off x="685800" y="2560320"/>
            <a:ext cx="3566160" cy="41148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Use for: Hierarchical authority chains</a:t>
            </a:r>
            <a:endParaRPr lang="en-US" sz="1000" dirty="0"/>
          </a:p>
          <a:p>
            <a:pPr marL="0" indent="0">
              <a:buNone/>
            </a:pPr>
            <a:r>
              <a:rPr lang="en-US" sz="1000" i="1" dirty="0">
                <a:solidFill>
                  <a:srgbClr val="64748B"/>
                </a:solidFill>
                <a:latin typeface="Segoe UI" pitchFamily="34" charset="0"/>
                <a:ea typeface="Segoe UI" pitchFamily="34" charset="-122"/>
                <a:cs typeface="Segoe UI" pitchFamily="34" charset="-120"/>
              </a:rPr>
              <a:t>(Adjuster → Manager → Head → CFO)</a:t>
            </a:r>
            <a:endParaRPr lang="en-US" sz="1000" dirty="0"/>
          </a:p>
        </p:txBody>
      </p:sp>
      <p:sp>
        <p:nvSpPr>
          <p:cNvPr id="10" name="Shape 8"/>
          <p:cNvSpPr/>
          <p:nvPr/>
        </p:nvSpPr>
        <p:spPr>
          <a:xfrm>
            <a:off x="4663440" y="1234440"/>
            <a:ext cx="4023360" cy="1828800"/>
          </a:xfrm>
          <a:prstGeom prst="rect">
            <a:avLst/>
          </a:prstGeom>
          <a:solidFill>
            <a:srgbClr val="F1F5F9"/>
          </a:solidFill>
          <a:ln/>
        </p:spPr>
        <p:txBody>
          <a:bodyPr/>
          <a:lstStyle/>
          <a:p>
            <a:endParaRPr lang="en-IN"/>
          </a:p>
        </p:txBody>
      </p:sp>
      <p:sp>
        <p:nvSpPr>
          <p:cNvPr id="11" name="Shape 9"/>
          <p:cNvSpPr/>
          <p:nvPr/>
        </p:nvSpPr>
        <p:spPr>
          <a:xfrm>
            <a:off x="4663440" y="1234440"/>
            <a:ext cx="73152" cy="1828800"/>
          </a:xfrm>
          <a:prstGeom prst="rect">
            <a:avLst/>
          </a:prstGeom>
          <a:solidFill>
            <a:srgbClr val="F59E0B"/>
          </a:solidFill>
          <a:ln/>
        </p:spPr>
        <p:txBody>
          <a:bodyPr/>
          <a:lstStyle/>
          <a:p>
            <a:endParaRPr lang="en-IN"/>
          </a:p>
        </p:txBody>
      </p:sp>
      <p:sp>
        <p:nvSpPr>
          <p:cNvPr id="12" name="Text 10"/>
          <p:cNvSpPr/>
          <p:nvPr/>
        </p:nvSpPr>
        <p:spPr>
          <a:xfrm>
            <a:off x="4892040" y="1325880"/>
            <a:ext cx="3657600" cy="320040"/>
          </a:xfrm>
          <a:prstGeom prst="rect">
            <a:avLst/>
          </a:prstGeom>
          <a:noFill/>
          <a:ln/>
        </p:spPr>
        <p:txBody>
          <a:bodyPr wrap="square" rtlCol="0" anchor="ctr"/>
          <a:lstStyle/>
          <a:p>
            <a:pPr marL="0" indent="0">
              <a:buNone/>
            </a:pPr>
            <a:r>
              <a:rPr lang="en-US" sz="1400" b="1" dirty="0">
                <a:solidFill>
                  <a:srgbClr val="F59E0B"/>
                </a:solidFill>
                <a:latin typeface="Segoe UI" pitchFamily="34" charset="0"/>
                <a:ea typeface="Segoe UI" pitchFamily="34" charset="-122"/>
                <a:cs typeface="Segoe UI" pitchFamily="34" charset="-120"/>
              </a:rPr>
              <a:t>Parallel</a:t>
            </a:r>
            <a:endParaRPr lang="en-US" sz="1400" dirty="0"/>
          </a:p>
        </p:txBody>
      </p:sp>
      <p:sp>
        <p:nvSpPr>
          <p:cNvPr id="13" name="Text 11"/>
          <p:cNvSpPr/>
          <p:nvPr/>
        </p:nvSpPr>
        <p:spPr>
          <a:xfrm>
            <a:off x="4892040" y="1691640"/>
            <a:ext cx="356616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Multiple approvers receive the request simultaneously.</a:t>
            </a:r>
            <a:endParaRPr lang="en-US" sz="1100" dirty="0"/>
          </a:p>
          <a:p>
            <a:pPr marL="0" indent="0">
              <a:buNone/>
            </a:pP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All must approve (or first to respond, based on type).</a:t>
            </a:r>
            <a:endParaRPr lang="en-US" sz="1100" dirty="0"/>
          </a:p>
        </p:txBody>
      </p:sp>
      <p:sp>
        <p:nvSpPr>
          <p:cNvPr id="14" name="Text 12"/>
          <p:cNvSpPr/>
          <p:nvPr/>
        </p:nvSpPr>
        <p:spPr>
          <a:xfrm>
            <a:off x="4892040" y="2560320"/>
            <a:ext cx="3566160" cy="41148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Use for: Independent perspectives</a:t>
            </a:r>
            <a:endParaRPr lang="en-US" sz="1000" dirty="0"/>
          </a:p>
          <a:p>
            <a:pPr marL="0" indent="0">
              <a:buNone/>
            </a:pPr>
            <a:r>
              <a:rPr lang="en-US" sz="1000" i="1" dirty="0">
                <a:solidFill>
                  <a:srgbClr val="64748B"/>
                </a:solidFill>
                <a:latin typeface="Segoe UI" pitchFamily="34" charset="0"/>
                <a:ea typeface="Segoe UI" pitchFamily="34" charset="-122"/>
                <a:cs typeface="Segoe UI" pitchFamily="34" charset="-120"/>
              </a:rPr>
              <a:t>(Claims Manager AND Compliance Officer)</a:t>
            </a:r>
            <a:endParaRPr lang="en-US" sz="1000" dirty="0"/>
          </a:p>
        </p:txBody>
      </p:sp>
      <p:sp>
        <p:nvSpPr>
          <p:cNvPr id="15" name="Shape 13"/>
          <p:cNvSpPr/>
          <p:nvPr/>
        </p:nvSpPr>
        <p:spPr>
          <a:xfrm>
            <a:off x="457200" y="3246120"/>
            <a:ext cx="8229600" cy="1371600"/>
          </a:xfrm>
          <a:prstGeom prst="rect">
            <a:avLst/>
          </a:prstGeom>
          <a:solidFill>
            <a:srgbClr val="0F172A"/>
          </a:solidFill>
          <a:ln/>
        </p:spPr>
        <p:txBody>
          <a:bodyPr/>
          <a:lstStyle/>
          <a:p>
            <a:endParaRPr lang="en-IN"/>
          </a:p>
        </p:txBody>
      </p:sp>
      <p:sp>
        <p:nvSpPr>
          <p:cNvPr id="16" name="Text 14"/>
          <p:cNvSpPr/>
          <p:nvPr/>
        </p:nvSpPr>
        <p:spPr>
          <a:xfrm>
            <a:off x="685800" y="3337560"/>
            <a:ext cx="7772400" cy="320040"/>
          </a:xfrm>
          <a:prstGeom prst="rect">
            <a:avLst/>
          </a:prstGeom>
          <a:noFill/>
          <a:ln/>
        </p:spPr>
        <p:txBody>
          <a:bodyPr wrap="square" rtlCol="0" anchor="ctr"/>
          <a:lstStyle/>
          <a:p>
            <a:pPr marL="0" indent="0">
              <a:buNone/>
            </a:pPr>
            <a:r>
              <a:rPr lang="en-US" sz="1200" b="1" dirty="0">
                <a:solidFill>
                  <a:srgbClr val="22D3EE"/>
                </a:solidFill>
                <a:latin typeface="Segoe UI" pitchFamily="34" charset="0"/>
                <a:ea typeface="Segoe UI" pitchFamily="34" charset="-122"/>
                <a:cs typeface="Segoe UI" pitchFamily="34" charset="-120"/>
              </a:rPr>
              <a:t>BFSI Example: Claims Routing by Amount</a:t>
            </a:r>
            <a:endParaRPr lang="en-US" sz="1200" dirty="0"/>
          </a:p>
        </p:txBody>
      </p:sp>
      <p:sp>
        <p:nvSpPr>
          <p:cNvPr id="17" name="Text 15"/>
          <p:cNvSpPr/>
          <p:nvPr/>
        </p:nvSpPr>
        <p:spPr>
          <a:xfrm>
            <a:off x="685800" y="3703320"/>
            <a:ext cx="7772400" cy="8229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&lt; ₹2 Lakh: Auto-approve (no human needed)</a:t>
            </a:r>
            <a:endParaRPr lang="en-US" sz="1100" dirty="0"/>
          </a:p>
          <a:p>
            <a:pPr marL="0" indent="0">
              <a:buNone/>
            </a:pPr>
            <a:r>
              <a:rPr lang="en-US" sz="1100" dirty="0">
                <a:solidFill>
                  <a:srgbClr val="FFFFFF"/>
                </a:solidFill>
                <a:latin typeface="Segoe UI" pitchFamily="34" charset="0"/>
                <a:ea typeface="Segoe UI" pitchFamily="34" charset="-122"/>
                <a:cs typeface="Segoe UI" pitchFamily="34" charset="-120"/>
              </a:rPr>
              <a:t>₹2–8 Lakh: Single approval (Claims Adjuster)</a:t>
            </a:r>
            <a:endParaRPr lang="en-US" sz="1100" dirty="0"/>
          </a:p>
          <a:p>
            <a:pPr marL="0" indent="0">
              <a:buNone/>
            </a:pPr>
            <a:r>
              <a:rPr lang="en-US" sz="1100" dirty="0">
                <a:solidFill>
                  <a:srgbClr val="FFFFFF"/>
                </a:solidFill>
                <a:latin typeface="Segoe UI" pitchFamily="34" charset="0"/>
                <a:ea typeface="Segoe UI" pitchFamily="34" charset="-122"/>
                <a:cs typeface="Segoe UI" pitchFamily="34" charset="-120"/>
              </a:rPr>
              <a:t>₹8–25 Lakh: Two-level sequential (Adjuster → Claims Manager)</a:t>
            </a:r>
            <a:endParaRPr lang="en-US" sz="1100" dirty="0"/>
          </a:p>
          <a:p>
            <a:pPr marL="0" indent="0">
              <a:buNone/>
            </a:pPr>
            <a:r>
              <a:rPr lang="en-US" sz="1100" dirty="0">
                <a:solidFill>
                  <a:srgbClr val="FFFFFF"/>
                </a:solidFill>
                <a:latin typeface="Segoe UI" pitchFamily="34" charset="0"/>
                <a:ea typeface="Segoe UI" pitchFamily="34" charset="-122"/>
                <a:cs typeface="Segoe UI" pitchFamily="34" charset="-120"/>
              </a:rPr>
              <a:t>&gt; ₹25 Lakh: Three-level sequential (Adjuster → Manager → Head of Claims)</a:t>
            </a:r>
            <a:endParaRPr lang="en-US" sz="1100" dirty="0"/>
          </a:p>
        </p:txBody>
      </p:sp>
      <p:sp>
        <p:nvSpPr>
          <p:cNvPr id="18" name="Shape 16"/>
          <p:cNvSpPr/>
          <p:nvPr/>
        </p:nvSpPr>
        <p:spPr>
          <a:xfrm>
            <a:off x="0" y="4846320"/>
            <a:ext cx="9144000" cy="297180"/>
          </a:xfrm>
          <a:prstGeom prst="rect">
            <a:avLst/>
          </a:prstGeom>
          <a:solidFill>
            <a:srgbClr val="F1F5F9"/>
          </a:solidFill>
          <a:ln/>
        </p:spPr>
        <p:txBody>
          <a:bodyPr/>
          <a:lstStyle/>
          <a:p>
            <a:endParaRPr lang="en-IN"/>
          </a:p>
        </p:txBody>
      </p:sp>
      <p:sp>
        <p:nvSpPr>
          <p:cNvPr id="19" name="Text 1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0" name="Text 18"/>
          <p:cNvSpPr/>
          <p:nvPr/>
        </p:nvSpPr>
        <p:spPr>
          <a:xfrm>
            <a:off x="7955280" y="4873752"/>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12 / 28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Dataverse Approval Audit Log</a:t>
            </a:r>
            <a:endParaRPr lang="en-US" sz="3000" dirty="0"/>
          </a:p>
        </p:txBody>
      </p:sp>
      <p:sp>
        <p:nvSpPr>
          <p:cNvPr id="4" name="Shape 2"/>
          <p:cNvSpPr/>
          <p:nvPr/>
        </p:nvSpPr>
        <p:spPr>
          <a:xfrm>
            <a:off x="640080" y="868680"/>
            <a:ext cx="7863840" cy="640080"/>
          </a:xfrm>
          <a:prstGeom prst="rect">
            <a:avLst/>
          </a:prstGeom>
          <a:solidFill>
            <a:srgbClr val="F1F5F9"/>
          </a:solidFill>
          <a:ln/>
        </p:spPr>
        <p:txBody>
          <a:bodyPr/>
          <a:lstStyle/>
          <a:p>
            <a:endParaRPr lang="en-IN"/>
          </a:p>
        </p:txBody>
      </p:sp>
      <p:sp>
        <p:nvSpPr>
          <p:cNvPr id="5" name="Shape 3"/>
          <p:cNvSpPr/>
          <p:nvPr/>
        </p:nvSpPr>
        <p:spPr>
          <a:xfrm>
            <a:off x="640080" y="868680"/>
            <a:ext cx="73152" cy="640080"/>
          </a:xfrm>
          <a:prstGeom prst="rect">
            <a:avLst/>
          </a:prstGeom>
          <a:solidFill>
            <a:srgbClr val="0891B2"/>
          </a:solidFill>
          <a:ln/>
        </p:spPr>
        <p:txBody>
          <a:bodyPr/>
          <a:lstStyle/>
          <a:p>
            <a:endParaRPr lang="en-IN"/>
          </a:p>
        </p:txBody>
      </p:sp>
      <p:sp>
        <p:nvSpPr>
          <p:cNvPr id="6" name="Text 4"/>
          <p:cNvSpPr/>
          <p:nvPr/>
        </p:nvSpPr>
        <p:spPr>
          <a:xfrm>
            <a:off x="1005840" y="960120"/>
            <a:ext cx="7223760" cy="45720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For BFSI compliance, every approval decision must be recorded in an auditable, tamper-resistant log. While Power Automate captures basic approval data, a dedicated Dataverse table provides richer context and easier reporting.</a:t>
            </a:r>
            <a:endParaRPr lang="en-US" sz="1200" dirty="0"/>
          </a:p>
        </p:txBody>
      </p:sp>
      <p:sp>
        <p:nvSpPr>
          <p:cNvPr id="7" name="Text 5"/>
          <p:cNvSpPr/>
          <p:nvPr/>
        </p:nvSpPr>
        <p:spPr>
          <a:xfrm>
            <a:off x="640080" y="1645920"/>
            <a:ext cx="7315200" cy="32004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Contoso_ApprovalLog Table Schema:</a:t>
            </a:r>
            <a:endParaRPr lang="en-US" sz="1400" dirty="0"/>
          </a:p>
        </p:txBody>
      </p:sp>
      <p:sp>
        <p:nvSpPr>
          <p:cNvPr id="8" name="Shape 6"/>
          <p:cNvSpPr/>
          <p:nvPr/>
        </p:nvSpPr>
        <p:spPr>
          <a:xfrm>
            <a:off x="457200" y="2011680"/>
            <a:ext cx="8229600" cy="320040"/>
          </a:xfrm>
          <a:prstGeom prst="rect">
            <a:avLst/>
          </a:prstGeom>
          <a:solidFill>
            <a:srgbClr val="FFFFFF"/>
          </a:solidFill>
          <a:ln/>
        </p:spPr>
        <p:txBody>
          <a:bodyPr/>
          <a:lstStyle/>
          <a:p>
            <a:endParaRPr lang="en-IN"/>
          </a:p>
        </p:txBody>
      </p:sp>
      <p:sp>
        <p:nvSpPr>
          <p:cNvPr id="9" name="Text 7"/>
          <p:cNvSpPr/>
          <p:nvPr/>
        </p:nvSpPr>
        <p:spPr>
          <a:xfrm>
            <a:off x="594360" y="2057400"/>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ApprovalLogId</a:t>
            </a:r>
            <a:endParaRPr lang="en-US" sz="1000" dirty="0"/>
          </a:p>
        </p:txBody>
      </p:sp>
      <p:sp>
        <p:nvSpPr>
          <p:cNvPr id="10" name="Text 8"/>
          <p:cNvSpPr/>
          <p:nvPr/>
        </p:nvSpPr>
        <p:spPr>
          <a:xfrm>
            <a:off x="2651760" y="2057400"/>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Autonumber</a:t>
            </a:r>
            <a:endParaRPr lang="en-US" sz="1000" dirty="0"/>
          </a:p>
        </p:txBody>
      </p:sp>
      <p:sp>
        <p:nvSpPr>
          <p:cNvPr id="11" name="Text 9"/>
          <p:cNvSpPr/>
          <p:nvPr/>
        </p:nvSpPr>
        <p:spPr>
          <a:xfrm>
            <a:off x="4754880" y="2057400"/>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Primary key</a:t>
            </a:r>
            <a:endParaRPr lang="en-US" sz="1000" dirty="0"/>
          </a:p>
        </p:txBody>
      </p:sp>
      <p:sp>
        <p:nvSpPr>
          <p:cNvPr id="12" name="Shape 10"/>
          <p:cNvSpPr/>
          <p:nvPr/>
        </p:nvSpPr>
        <p:spPr>
          <a:xfrm>
            <a:off x="457200" y="2359152"/>
            <a:ext cx="8229600" cy="320040"/>
          </a:xfrm>
          <a:prstGeom prst="rect">
            <a:avLst/>
          </a:prstGeom>
          <a:solidFill>
            <a:srgbClr val="F1F5F9"/>
          </a:solidFill>
          <a:ln/>
        </p:spPr>
        <p:txBody>
          <a:bodyPr/>
          <a:lstStyle/>
          <a:p>
            <a:endParaRPr lang="en-IN"/>
          </a:p>
        </p:txBody>
      </p:sp>
      <p:sp>
        <p:nvSpPr>
          <p:cNvPr id="13" name="Text 11"/>
          <p:cNvSpPr/>
          <p:nvPr/>
        </p:nvSpPr>
        <p:spPr>
          <a:xfrm>
            <a:off x="594360" y="2404872"/>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ClaimId</a:t>
            </a:r>
            <a:endParaRPr lang="en-US" sz="1000" dirty="0"/>
          </a:p>
        </p:txBody>
      </p:sp>
      <p:sp>
        <p:nvSpPr>
          <p:cNvPr id="14" name="Text 12"/>
          <p:cNvSpPr/>
          <p:nvPr/>
        </p:nvSpPr>
        <p:spPr>
          <a:xfrm>
            <a:off x="2651760" y="2404872"/>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Lookup (Claims)</a:t>
            </a:r>
            <a:endParaRPr lang="en-US" sz="1000" dirty="0"/>
          </a:p>
        </p:txBody>
      </p:sp>
      <p:sp>
        <p:nvSpPr>
          <p:cNvPr id="15" name="Text 13"/>
          <p:cNvSpPr/>
          <p:nvPr/>
        </p:nvSpPr>
        <p:spPr>
          <a:xfrm>
            <a:off x="4754880" y="2404872"/>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Link to claim being approved</a:t>
            </a:r>
            <a:endParaRPr lang="en-US" sz="1000" dirty="0"/>
          </a:p>
        </p:txBody>
      </p:sp>
      <p:sp>
        <p:nvSpPr>
          <p:cNvPr id="16" name="Shape 14"/>
          <p:cNvSpPr/>
          <p:nvPr/>
        </p:nvSpPr>
        <p:spPr>
          <a:xfrm>
            <a:off x="457200" y="2706624"/>
            <a:ext cx="8229600" cy="320040"/>
          </a:xfrm>
          <a:prstGeom prst="rect">
            <a:avLst/>
          </a:prstGeom>
          <a:solidFill>
            <a:srgbClr val="FFFFFF"/>
          </a:solidFill>
          <a:ln/>
        </p:spPr>
        <p:txBody>
          <a:bodyPr/>
          <a:lstStyle/>
          <a:p>
            <a:endParaRPr lang="en-IN"/>
          </a:p>
        </p:txBody>
      </p:sp>
      <p:sp>
        <p:nvSpPr>
          <p:cNvPr id="17" name="Text 15"/>
          <p:cNvSpPr/>
          <p:nvPr/>
        </p:nvSpPr>
        <p:spPr>
          <a:xfrm>
            <a:off x="594360" y="2752344"/>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ApprovalLevel</a:t>
            </a:r>
            <a:endParaRPr lang="en-US" sz="1000" dirty="0"/>
          </a:p>
        </p:txBody>
      </p:sp>
      <p:sp>
        <p:nvSpPr>
          <p:cNvPr id="18" name="Text 16"/>
          <p:cNvSpPr/>
          <p:nvPr/>
        </p:nvSpPr>
        <p:spPr>
          <a:xfrm>
            <a:off x="2651760" y="2752344"/>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Whole Number</a:t>
            </a:r>
            <a:endParaRPr lang="en-US" sz="1000" dirty="0"/>
          </a:p>
        </p:txBody>
      </p:sp>
      <p:sp>
        <p:nvSpPr>
          <p:cNvPr id="19" name="Text 17"/>
          <p:cNvSpPr/>
          <p:nvPr/>
        </p:nvSpPr>
        <p:spPr>
          <a:xfrm>
            <a:off x="4754880" y="2752344"/>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1 = Adjuster, 2 = Manager, etc.</a:t>
            </a:r>
            <a:endParaRPr lang="en-US" sz="1000" dirty="0"/>
          </a:p>
        </p:txBody>
      </p:sp>
      <p:sp>
        <p:nvSpPr>
          <p:cNvPr id="20" name="Shape 18"/>
          <p:cNvSpPr/>
          <p:nvPr/>
        </p:nvSpPr>
        <p:spPr>
          <a:xfrm>
            <a:off x="457200" y="3054096"/>
            <a:ext cx="8229600" cy="320040"/>
          </a:xfrm>
          <a:prstGeom prst="rect">
            <a:avLst/>
          </a:prstGeom>
          <a:solidFill>
            <a:srgbClr val="F1F5F9"/>
          </a:solidFill>
          <a:ln/>
        </p:spPr>
        <p:txBody>
          <a:bodyPr/>
          <a:lstStyle/>
          <a:p>
            <a:endParaRPr lang="en-IN"/>
          </a:p>
        </p:txBody>
      </p:sp>
      <p:sp>
        <p:nvSpPr>
          <p:cNvPr id="21" name="Text 19"/>
          <p:cNvSpPr/>
          <p:nvPr/>
        </p:nvSpPr>
        <p:spPr>
          <a:xfrm>
            <a:off x="594360" y="3099816"/>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ApproverId</a:t>
            </a:r>
            <a:endParaRPr lang="en-US" sz="1000" dirty="0"/>
          </a:p>
        </p:txBody>
      </p:sp>
      <p:sp>
        <p:nvSpPr>
          <p:cNvPr id="22" name="Text 20"/>
          <p:cNvSpPr/>
          <p:nvPr/>
        </p:nvSpPr>
        <p:spPr>
          <a:xfrm>
            <a:off x="2651760" y="3099816"/>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Lookup (Users)</a:t>
            </a:r>
            <a:endParaRPr lang="en-US" sz="1000" dirty="0"/>
          </a:p>
        </p:txBody>
      </p:sp>
      <p:sp>
        <p:nvSpPr>
          <p:cNvPr id="23" name="Text 21"/>
          <p:cNvSpPr/>
          <p:nvPr/>
        </p:nvSpPr>
        <p:spPr>
          <a:xfrm>
            <a:off x="4754880" y="3099816"/>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Who was assigned to approve</a:t>
            </a:r>
            <a:endParaRPr lang="en-US" sz="1000" dirty="0"/>
          </a:p>
        </p:txBody>
      </p:sp>
      <p:sp>
        <p:nvSpPr>
          <p:cNvPr id="24" name="Shape 22"/>
          <p:cNvSpPr/>
          <p:nvPr/>
        </p:nvSpPr>
        <p:spPr>
          <a:xfrm>
            <a:off x="457200" y="3401568"/>
            <a:ext cx="8229600" cy="320040"/>
          </a:xfrm>
          <a:prstGeom prst="rect">
            <a:avLst/>
          </a:prstGeom>
          <a:solidFill>
            <a:srgbClr val="FFFFFF"/>
          </a:solidFill>
          <a:ln/>
        </p:spPr>
        <p:txBody>
          <a:bodyPr/>
          <a:lstStyle/>
          <a:p>
            <a:endParaRPr lang="en-IN"/>
          </a:p>
        </p:txBody>
      </p:sp>
      <p:sp>
        <p:nvSpPr>
          <p:cNvPr id="25" name="Text 23"/>
          <p:cNvSpPr/>
          <p:nvPr/>
        </p:nvSpPr>
        <p:spPr>
          <a:xfrm>
            <a:off x="594360" y="3447288"/>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Decision</a:t>
            </a:r>
            <a:endParaRPr lang="en-US" sz="1000" dirty="0"/>
          </a:p>
        </p:txBody>
      </p:sp>
      <p:sp>
        <p:nvSpPr>
          <p:cNvPr id="26" name="Text 24"/>
          <p:cNvSpPr/>
          <p:nvPr/>
        </p:nvSpPr>
        <p:spPr>
          <a:xfrm>
            <a:off x="2651760" y="3447288"/>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Choice</a:t>
            </a:r>
            <a:endParaRPr lang="en-US" sz="1000" dirty="0"/>
          </a:p>
        </p:txBody>
      </p:sp>
      <p:sp>
        <p:nvSpPr>
          <p:cNvPr id="27" name="Text 25"/>
          <p:cNvSpPr/>
          <p:nvPr/>
        </p:nvSpPr>
        <p:spPr>
          <a:xfrm>
            <a:off x="4754880" y="3447288"/>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Approved / Rejected / Escalated</a:t>
            </a:r>
            <a:endParaRPr lang="en-US" sz="1000" dirty="0"/>
          </a:p>
        </p:txBody>
      </p:sp>
      <p:sp>
        <p:nvSpPr>
          <p:cNvPr id="28" name="Shape 26"/>
          <p:cNvSpPr/>
          <p:nvPr/>
        </p:nvSpPr>
        <p:spPr>
          <a:xfrm>
            <a:off x="457200" y="3749040"/>
            <a:ext cx="8229600" cy="320040"/>
          </a:xfrm>
          <a:prstGeom prst="rect">
            <a:avLst/>
          </a:prstGeom>
          <a:solidFill>
            <a:srgbClr val="F1F5F9"/>
          </a:solidFill>
          <a:ln/>
        </p:spPr>
        <p:txBody>
          <a:bodyPr/>
          <a:lstStyle/>
          <a:p>
            <a:endParaRPr lang="en-IN"/>
          </a:p>
        </p:txBody>
      </p:sp>
      <p:sp>
        <p:nvSpPr>
          <p:cNvPr id="29" name="Text 27"/>
          <p:cNvSpPr/>
          <p:nvPr/>
        </p:nvSpPr>
        <p:spPr>
          <a:xfrm>
            <a:off x="594360" y="3794760"/>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DecisionTimestamp</a:t>
            </a:r>
            <a:endParaRPr lang="en-US" sz="1000" dirty="0"/>
          </a:p>
        </p:txBody>
      </p:sp>
      <p:sp>
        <p:nvSpPr>
          <p:cNvPr id="30" name="Text 28"/>
          <p:cNvSpPr/>
          <p:nvPr/>
        </p:nvSpPr>
        <p:spPr>
          <a:xfrm>
            <a:off x="2651760" y="3794760"/>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Date and Time</a:t>
            </a:r>
            <a:endParaRPr lang="en-US" sz="1000" dirty="0"/>
          </a:p>
        </p:txBody>
      </p:sp>
      <p:sp>
        <p:nvSpPr>
          <p:cNvPr id="31" name="Text 29"/>
          <p:cNvSpPr/>
          <p:nvPr/>
        </p:nvSpPr>
        <p:spPr>
          <a:xfrm>
            <a:off x="4754880" y="3794760"/>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When decision was made</a:t>
            </a:r>
            <a:endParaRPr lang="en-US" sz="1000" dirty="0"/>
          </a:p>
        </p:txBody>
      </p:sp>
      <p:sp>
        <p:nvSpPr>
          <p:cNvPr id="32" name="Shape 30"/>
          <p:cNvSpPr/>
          <p:nvPr/>
        </p:nvSpPr>
        <p:spPr>
          <a:xfrm>
            <a:off x="457200" y="4096512"/>
            <a:ext cx="8229600" cy="320040"/>
          </a:xfrm>
          <a:prstGeom prst="rect">
            <a:avLst/>
          </a:prstGeom>
          <a:solidFill>
            <a:srgbClr val="FFFFFF"/>
          </a:solidFill>
          <a:ln/>
        </p:spPr>
        <p:txBody>
          <a:bodyPr/>
          <a:lstStyle/>
          <a:p>
            <a:endParaRPr lang="en-IN"/>
          </a:p>
        </p:txBody>
      </p:sp>
      <p:sp>
        <p:nvSpPr>
          <p:cNvPr id="33" name="Text 31"/>
          <p:cNvSpPr/>
          <p:nvPr/>
        </p:nvSpPr>
        <p:spPr>
          <a:xfrm>
            <a:off x="594360" y="4142232"/>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Rationale</a:t>
            </a:r>
            <a:endParaRPr lang="en-US" sz="1000" dirty="0"/>
          </a:p>
        </p:txBody>
      </p:sp>
      <p:sp>
        <p:nvSpPr>
          <p:cNvPr id="34" name="Text 32"/>
          <p:cNvSpPr/>
          <p:nvPr/>
        </p:nvSpPr>
        <p:spPr>
          <a:xfrm>
            <a:off x="2651760" y="4142232"/>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Multiline Text</a:t>
            </a:r>
            <a:endParaRPr lang="en-US" sz="1000" dirty="0"/>
          </a:p>
        </p:txBody>
      </p:sp>
      <p:sp>
        <p:nvSpPr>
          <p:cNvPr id="35" name="Text 33"/>
          <p:cNvSpPr/>
          <p:nvPr/>
        </p:nvSpPr>
        <p:spPr>
          <a:xfrm>
            <a:off x="4754880" y="4142232"/>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Approver's justification</a:t>
            </a:r>
            <a:endParaRPr lang="en-US" sz="1000" dirty="0"/>
          </a:p>
        </p:txBody>
      </p:sp>
      <p:sp>
        <p:nvSpPr>
          <p:cNvPr id="36" name="Shape 34"/>
          <p:cNvSpPr/>
          <p:nvPr/>
        </p:nvSpPr>
        <p:spPr>
          <a:xfrm>
            <a:off x="457200" y="4443984"/>
            <a:ext cx="8229600" cy="320040"/>
          </a:xfrm>
          <a:prstGeom prst="rect">
            <a:avLst/>
          </a:prstGeom>
          <a:solidFill>
            <a:srgbClr val="F1F5F9"/>
          </a:solidFill>
          <a:ln/>
        </p:spPr>
        <p:txBody>
          <a:bodyPr/>
          <a:lstStyle/>
          <a:p>
            <a:endParaRPr lang="en-IN"/>
          </a:p>
        </p:txBody>
      </p:sp>
      <p:sp>
        <p:nvSpPr>
          <p:cNvPr id="37" name="Text 35"/>
          <p:cNvSpPr/>
          <p:nvPr/>
        </p:nvSpPr>
        <p:spPr>
          <a:xfrm>
            <a:off x="594360" y="4489704"/>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SLAMet</a:t>
            </a:r>
            <a:endParaRPr lang="en-US" sz="1000" dirty="0"/>
          </a:p>
        </p:txBody>
      </p:sp>
      <p:sp>
        <p:nvSpPr>
          <p:cNvPr id="38" name="Text 36"/>
          <p:cNvSpPr/>
          <p:nvPr/>
        </p:nvSpPr>
        <p:spPr>
          <a:xfrm>
            <a:off x="2651760" y="4489704"/>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Yes/No</a:t>
            </a:r>
            <a:endParaRPr lang="en-US" sz="1000" dirty="0"/>
          </a:p>
        </p:txBody>
      </p:sp>
      <p:sp>
        <p:nvSpPr>
          <p:cNvPr id="39" name="Text 37"/>
          <p:cNvSpPr/>
          <p:nvPr/>
        </p:nvSpPr>
        <p:spPr>
          <a:xfrm>
            <a:off x="4754880" y="4489704"/>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Was decision within SLA?</a:t>
            </a:r>
            <a:endParaRPr lang="en-US" sz="1000" dirty="0"/>
          </a:p>
        </p:txBody>
      </p:sp>
      <p:sp>
        <p:nvSpPr>
          <p:cNvPr id="40" name="Shape 38"/>
          <p:cNvSpPr/>
          <p:nvPr/>
        </p:nvSpPr>
        <p:spPr>
          <a:xfrm>
            <a:off x="0" y="4846320"/>
            <a:ext cx="9144000" cy="297180"/>
          </a:xfrm>
          <a:prstGeom prst="rect">
            <a:avLst/>
          </a:prstGeom>
          <a:solidFill>
            <a:srgbClr val="F1F5F9"/>
          </a:solidFill>
          <a:ln/>
        </p:spPr>
        <p:txBody>
          <a:bodyPr/>
          <a:lstStyle/>
          <a:p>
            <a:endParaRPr lang="en-IN"/>
          </a:p>
        </p:txBody>
      </p:sp>
      <p:sp>
        <p:nvSpPr>
          <p:cNvPr id="41" name="Text 3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42" name="Text 40"/>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HITL Implementation Comparison</a:t>
            </a:r>
            <a:endParaRPr lang="en-US" sz="28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 Power Platform offers three ways to implement human-in-the-loop. Each has distinct strengths:</a:t>
            </a:r>
            <a:endParaRPr lang="en-US" sz="1200" dirty="0"/>
          </a:p>
        </p:txBody>
      </p:sp>
      <p:sp>
        <p:nvSpPr>
          <p:cNvPr id="5" name="Shape 3"/>
          <p:cNvSpPr/>
          <p:nvPr/>
        </p:nvSpPr>
        <p:spPr>
          <a:xfrm>
            <a:off x="457200" y="1234440"/>
            <a:ext cx="8229600" cy="1051560"/>
          </a:xfrm>
          <a:prstGeom prst="rect">
            <a:avLst/>
          </a:prstGeom>
          <a:solidFill>
            <a:srgbClr val="F1F5F9"/>
          </a:solidFill>
          <a:ln/>
        </p:spPr>
        <p:txBody>
          <a:bodyPr/>
          <a:lstStyle/>
          <a:p>
            <a:endParaRPr lang="en-IN"/>
          </a:p>
        </p:txBody>
      </p:sp>
      <p:sp>
        <p:nvSpPr>
          <p:cNvPr id="6" name="Shape 4"/>
          <p:cNvSpPr/>
          <p:nvPr/>
        </p:nvSpPr>
        <p:spPr>
          <a:xfrm>
            <a:off x="457200" y="1234440"/>
            <a:ext cx="73152" cy="1051560"/>
          </a:xfrm>
          <a:prstGeom prst="rect">
            <a:avLst/>
          </a:prstGeom>
          <a:solidFill>
            <a:srgbClr val="0891B2"/>
          </a:solidFill>
          <a:ln/>
        </p:spPr>
        <p:txBody>
          <a:bodyPr/>
          <a:lstStyle/>
          <a:p>
            <a:endParaRPr lang="en-IN"/>
          </a:p>
        </p:txBody>
      </p:sp>
      <p:sp>
        <p:nvSpPr>
          <p:cNvPr id="7" name="Text 5"/>
          <p:cNvSpPr/>
          <p:nvPr/>
        </p:nvSpPr>
        <p:spPr>
          <a:xfrm>
            <a:off x="685800" y="1325880"/>
            <a:ext cx="2926080" cy="32004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Power Automate Approvals</a:t>
            </a:r>
            <a:endParaRPr lang="en-US" sz="1300" dirty="0"/>
          </a:p>
        </p:txBody>
      </p:sp>
      <p:sp>
        <p:nvSpPr>
          <p:cNvPr id="8" name="Shape 6"/>
          <p:cNvSpPr/>
          <p:nvPr/>
        </p:nvSpPr>
        <p:spPr>
          <a:xfrm>
            <a:off x="1071807" y="1742168"/>
            <a:ext cx="1463040" cy="228600"/>
          </a:xfrm>
          <a:prstGeom prst="rect">
            <a:avLst/>
          </a:prstGeom>
          <a:solidFill>
            <a:srgbClr val="0891B2"/>
          </a:solidFill>
          <a:ln/>
        </p:spPr>
        <p:txBody>
          <a:bodyPr/>
          <a:lstStyle/>
          <a:p>
            <a:endParaRPr lang="en-IN"/>
          </a:p>
        </p:txBody>
      </p:sp>
      <p:sp>
        <p:nvSpPr>
          <p:cNvPr id="9" name="Text 7"/>
          <p:cNvSpPr/>
          <p:nvPr/>
        </p:nvSpPr>
        <p:spPr>
          <a:xfrm>
            <a:off x="1071807" y="1721485"/>
            <a:ext cx="1463040" cy="228600"/>
          </a:xfrm>
          <a:prstGeom prst="rect">
            <a:avLst/>
          </a:prstGeom>
          <a:noFill/>
          <a:ln/>
        </p:spPr>
        <p:txBody>
          <a:bodyPr wrap="square"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Enterprise-grade</a:t>
            </a:r>
            <a:endParaRPr lang="en-US" sz="900" dirty="0"/>
          </a:p>
        </p:txBody>
      </p:sp>
      <p:sp>
        <p:nvSpPr>
          <p:cNvPr id="10" name="Text 8"/>
          <p:cNvSpPr/>
          <p:nvPr/>
        </p:nvSpPr>
        <p:spPr>
          <a:xfrm>
            <a:off x="3040380" y="1369061"/>
            <a:ext cx="5225143"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Multi-level routing, SLA enforcement, Teams/Email/Mobile notifications, full audit trail</a:t>
            </a:r>
            <a:endParaRPr lang="en-US" sz="1000" dirty="0"/>
          </a:p>
        </p:txBody>
      </p:sp>
      <p:sp>
        <p:nvSpPr>
          <p:cNvPr id="11" name="Text 9"/>
          <p:cNvSpPr/>
          <p:nvPr/>
        </p:nvSpPr>
        <p:spPr>
          <a:xfrm>
            <a:off x="3076303" y="1673352"/>
            <a:ext cx="6217920" cy="274320"/>
          </a:xfrm>
          <a:prstGeom prst="rect">
            <a:avLst/>
          </a:prstGeom>
          <a:noFill/>
          <a:ln/>
        </p:spPr>
        <p:txBody>
          <a:bodyPr wrap="square" rtlCol="0" anchor="ctr"/>
          <a:lstStyle/>
          <a:p>
            <a:pPr marL="0" indent="0">
              <a:buNone/>
            </a:pPr>
            <a:r>
              <a:rPr lang="en-US" sz="1000" i="1" dirty="0">
                <a:solidFill>
                  <a:srgbClr val="1E293B"/>
                </a:solidFill>
                <a:latin typeface="Segoe UI" pitchFamily="34" charset="0"/>
                <a:ea typeface="Segoe UI" pitchFamily="34" charset="-122"/>
                <a:cs typeface="Segoe UI" pitchFamily="34" charset="-120"/>
              </a:rPr>
              <a:t>Best for: Formal approvals with compliance requirements</a:t>
            </a:r>
            <a:endParaRPr lang="en-US" sz="1000" dirty="0"/>
          </a:p>
        </p:txBody>
      </p:sp>
      <p:sp>
        <p:nvSpPr>
          <p:cNvPr id="12" name="Shape 10"/>
          <p:cNvSpPr/>
          <p:nvPr/>
        </p:nvSpPr>
        <p:spPr>
          <a:xfrm>
            <a:off x="457200" y="2377440"/>
            <a:ext cx="8229600" cy="1051560"/>
          </a:xfrm>
          <a:prstGeom prst="rect">
            <a:avLst/>
          </a:prstGeom>
          <a:solidFill>
            <a:srgbClr val="F1F5F9"/>
          </a:solidFill>
          <a:ln/>
        </p:spPr>
        <p:txBody>
          <a:bodyPr/>
          <a:lstStyle/>
          <a:p>
            <a:endParaRPr lang="en-IN"/>
          </a:p>
        </p:txBody>
      </p:sp>
      <p:sp>
        <p:nvSpPr>
          <p:cNvPr id="13" name="Shape 11"/>
          <p:cNvSpPr/>
          <p:nvPr/>
        </p:nvSpPr>
        <p:spPr>
          <a:xfrm>
            <a:off x="457200" y="2377440"/>
            <a:ext cx="73152" cy="1051560"/>
          </a:xfrm>
          <a:prstGeom prst="rect">
            <a:avLst/>
          </a:prstGeom>
          <a:solidFill>
            <a:srgbClr val="F59E0B"/>
          </a:solidFill>
          <a:ln/>
        </p:spPr>
        <p:txBody>
          <a:bodyPr/>
          <a:lstStyle/>
          <a:p>
            <a:endParaRPr lang="en-IN"/>
          </a:p>
        </p:txBody>
      </p:sp>
      <p:sp>
        <p:nvSpPr>
          <p:cNvPr id="14" name="Text 12"/>
          <p:cNvSpPr/>
          <p:nvPr/>
        </p:nvSpPr>
        <p:spPr>
          <a:xfrm>
            <a:off x="685800" y="2468880"/>
            <a:ext cx="2926080" cy="320040"/>
          </a:xfrm>
          <a:prstGeom prst="rect">
            <a:avLst/>
          </a:prstGeom>
          <a:noFill/>
          <a:ln/>
        </p:spPr>
        <p:txBody>
          <a:bodyPr wrap="square" rtlCol="0" anchor="ctr"/>
          <a:lstStyle/>
          <a:p>
            <a:pPr marL="0" indent="0">
              <a:buNone/>
            </a:pPr>
            <a:r>
              <a:rPr lang="en-US" sz="1300" b="1" dirty="0">
                <a:solidFill>
                  <a:srgbClr val="F59E0B"/>
                </a:solidFill>
                <a:latin typeface="Segoe UI" pitchFamily="34" charset="0"/>
                <a:ea typeface="Segoe UI" pitchFamily="34" charset="-122"/>
                <a:cs typeface="Segoe UI" pitchFamily="34" charset="-120"/>
              </a:rPr>
              <a:t>Agent Flow Request for Info</a:t>
            </a:r>
            <a:endParaRPr lang="en-US" sz="1300" dirty="0"/>
          </a:p>
        </p:txBody>
      </p:sp>
      <p:sp>
        <p:nvSpPr>
          <p:cNvPr id="15" name="Shape 13"/>
          <p:cNvSpPr/>
          <p:nvPr/>
        </p:nvSpPr>
        <p:spPr>
          <a:xfrm>
            <a:off x="1101199" y="2857500"/>
            <a:ext cx="1463040" cy="228600"/>
          </a:xfrm>
          <a:prstGeom prst="rect">
            <a:avLst/>
          </a:prstGeom>
          <a:solidFill>
            <a:srgbClr val="F59E0B"/>
          </a:solidFill>
          <a:ln/>
        </p:spPr>
        <p:txBody>
          <a:bodyPr/>
          <a:lstStyle/>
          <a:p>
            <a:endParaRPr lang="en-IN"/>
          </a:p>
        </p:txBody>
      </p:sp>
      <p:sp>
        <p:nvSpPr>
          <p:cNvPr id="16" name="Text 14"/>
          <p:cNvSpPr/>
          <p:nvPr/>
        </p:nvSpPr>
        <p:spPr>
          <a:xfrm>
            <a:off x="1101199" y="2848610"/>
            <a:ext cx="1463040" cy="228600"/>
          </a:xfrm>
          <a:prstGeom prst="rect">
            <a:avLst/>
          </a:prstGeom>
          <a:noFill/>
          <a:ln/>
        </p:spPr>
        <p:txBody>
          <a:bodyPr wrap="square"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Lightweight, in-agent</a:t>
            </a:r>
            <a:endParaRPr lang="en-US" sz="900" dirty="0"/>
          </a:p>
        </p:txBody>
      </p:sp>
      <p:sp>
        <p:nvSpPr>
          <p:cNvPr id="17" name="Text 15"/>
          <p:cNvSpPr/>
          <p:nvPr/>
        </p:nvSpPr>
        <p:spPr>
          <a:xfrm>
            <a:off x="3135086" y="2514600"/>
            <a:ext cx="513080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Pause flow to request human input, resume after response, stays within agent context</a:t>
            </a:r>
            <a:endParaRPr lang="en-US" sz="1000" dirty="0"/>
          </a:p>
        </p:txBody>
      </p:sp>
      <p:sp>
        <p:nvSpPr>
          <p:cNvPr id="18" name="Text 16"/>
          <p:cNvSpPr/>
          <p:nvPr/>
        </p:nvSpPr>
        <p:spPr>
          <a:xfrm>
            <a:off x="3229428" y="3063240"/>
            <a:ext cx="5274491" cy="274320"/>
          </a:xfrm>
          <a:prstGeom prst="rect">
            <a:avLst/>
          </a:prstGeom>
          <a:noFill/>
          <a:ln/>
        </p:spPr>
        <p:txBody>
          <a:bodyPr wrap="square" rtlCol="0" anchor="ctr"/>
          <a:lstStyle/>
          <a:p>
            <a:pPr marL="0" indent="0">
              <a:buNone/>
            </a:pPr>
            <a:r>
              <a:rPr lang="en-US" sz="1000" i="1" dirty="0">
                <a:solidFill>
                  <a:srgbClr val="1E293B"/>
                </a:solidFill>
                <a:latin typeface="Segoe UI" pitchFamily="34" charset="0"/>
                <a:ea typeface="Segoe UI" pitchFamily="34" charset="-122"/>
                <a:cs typeface="Segoe UI" pitchFamily="34" charset="-120"/>
              </a:rPr>
              <a:t>Best for: Mid-flow clarifications, simple confirmations</a:t>
            </a:r>
            <a:endParaRPr lang="en-US" sz="1000" dirty="0"/>
          </a:p>
        </p:txBody>
      </p:sp>
      <p:sp>
        <p:nvSpPr>
          <p:cNvPr id="19" name="Shape 17"/>
          <p:cNvSpPr/>
          <p:nvPr/>
        </p:nvSpPr>
        <p:spPr>
          <a:xfrm>
            <a:off x="457200" y="3520440"/>
            <a:ext cx="8229600" cy="1051560"/>
          </a:xfrm>
          <a:prstGeom prst="rect">
            <a:avLst/>
          </a:prstGeom>
          <a:solidFill>
            <a:srgbClr val="F1F5F9"/>
          </a:solidFill>
          <a:ln/>
        </p:spPr>
        <p:txBody>
          <a:bodyPr/>
          <a:lstStyle/>
          <a:p>
            <a:endParaRPr lang="en-IN"/>
          </a:p>
        </p:txBody>
      </p:sp>
      <p:sp>
        <p:nvSpPr>
          <p:cNvPr id="20" name="Shape 18"/>
          <p:cNvSpPr/>
          <p:nvPr/>
        </p:nvSpPr>
        <p:spPr>
          <a:xfrm>
            <a:off x="457200" y="3520440"/>
            <a:ext cx="73152" cy="1051560"/>
          </a:xfrm>
          <a:prstGeom prst="rect">
            <a:avLst/>
          </a:prstGeom>
          <a:solidFill>
            <a:srgbClr val="22C55E"/>
          </a:solidFill>
          <a:ln/>
        </p:spPr>
        <p:txBody>
          <a:bodyPr/>
          <a:lstStyle/>
          <a:p>
            <a:endParaRPr lang="en-IN"/>
          </a:p>
        </p:txBody>
      </p:sp>
      <p:sp>
        <p:nvSpPr>
          <p:cNvPr id="21" name="Text 19"/>
          <p:cNvSpPr/>
          <p:nvPr/>
        </p:nvSpPr>
        <p:spPr>
          <a:xfrm>
            <a:off x="685800" y="3611880"/>
            <a:ext cx="29260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Adaptive Cards in Topics</a:t>
            </a:r>
            <a:endParaRPr lang="en-US" sz="1300" dirty="0"/>
          </a:p>
        </p:txBody>
      </p:sp>
      <p:sp>
        <p:nvSpPr>
          <p:cNvPr id="22" name="Shape 20"/>
          <p:cNvSpPr/>
          <p:nvPr/>
        </p:nvSpPr>
        <p:spPr>
          <a:xfrm>
            <a:off x="1053846" y="3997670"/>
            <a:ext cx="1463040" cy="365760"/>
          </a:xfrm>
          <a:prstGeom prst="rect">
            <a:avLst/>
          </a:prstGeom>
          <a:solidFill>
            <a:srgbClr val="22C55E"/>
          </a:solidFill>
          <a:ln/>
        </p:spPr>
        <p:txBody>
          <a:bodyPr/>
          <a:lstStyle/>
          <a:p>
            <a:endParaRPr lang="en-IN"/>
          </a:p>
        </p:txBody>
      </p:sp>
      <p:sp>
        <p:nvSpPr>
          <p:cNvPr id="23" name="Text 21"/>
          <p:cNvSpPr/>
          <p:nvPr/>
        </p:nvSpPr>
        <p:spPr>
          <a:xfrm>
            <a:off x="1101199" y="4020530"/>
            <a:ext cx="1463040" cy="320040"/>
          </a:xfrm>
          <a:prstGeom prst="rect">
            <a:avLst/>
          </a:prstGeom>
          <a:noFill/>
          <a:ln/>
        </p:spPr>
        <p:txBody>
          <a:bodyPr wrap="square"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Real-time, conversational</a:t>
            </a:r>
            <a:endParaRPr lang="en-US" sz="900" dirty="0"/>
          </a:p>
        </p:txBody>
      </p:sp>
      <p:sp>
        <p:nvSpPr>
          <p:cNvPr id="24" name="Text 22"/>
          <p:cNvSpPr/>
          <p:nvPr/>
        </p:nvSpPr>
        <p:spPr>
          <a:xfrm>
            <a:off x="3040380" y="3589020"/>
            <a:ext cx="4376420" cy="3429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Rich card UI in conversation, immediate response, no workflow overhead</a:t>
            </a:r>
            <a:endParaRPr lang="en-US" sz="1000" dirty="0"/>
          </a:p>
        </p:txBody>
      </p:sp>
      <p:sp>
        <p:nvSpPr>
          <p:cNvPr id="25" name="Text 23"/>
          <p:cNvSpPr/>
          <p:nvPr/>
        </p:nvSpPr>
        <p:spPr>
          <a:xfrm>
            <a:off x="3040380" y="3991792"/>
            <a:ext cx="6217920" cy="274320"/>
          </a:xfrm>
          <a:prstGeom prst="rect">
            <a:avLst/>
          </a:prstGeom>
          <a:noFill/>
          <a:ln/>
        </p:spPr>
        <p:txBody>
          <a:bodyPr wrap="square" rtlCol="0" anchor="ctr"/>
          <a:lstStyle/>
          <a:p>
            <a:pPr marL="0" indent="0">
              <a:buNone/>
            </a:pPr>
            <a:r>
              <a:rPr lang="en-US" sz="1000" i="1" dirty="0">
                <a:solidFill>
                  <a:srgbClr val="1E293B"/>
                </a:solidFill>
                <a:latin typeface="Segoe UI" pitchFamily="34" charset="0"/>
                <a:ea typeface="Segoe UI" pitchFamily="34" charset="-122"/>
                <a:cs typeface="Segoe UI" pitchFamily="34" charset="-120"/>
              </a:rPr>
              <a:t>Best for: Real-time choices, immediate user decisions</a:t>
            </a:r>
            <a:endParaRPr lang="en-US" sz="1000" dirty="0"/>
          </a:p>
        </p:txBody>
      </p:sp>
      <p:sp>
        <p:nvSpPr>
          <p:cNvPr id="26" name="Shape 24"/>
          <p:cNvSpPr/>
          <p:nvPr/>
        </p:nvSpPr>
        <p:spPr>
          <a:xfrm>
            <a:off x="457200" y="4572000"/>
            <a:ext cx="8229600" cy="228600"/>
          </a:xfrm>
          <a:prstGeom prst="rect">
            <a:avLst/>
          </a:prstGeom>
          <a:solidFill>
            <a:srgbClr val="EDE9FE"/>
          </a:solidFill>
          <a:ln/>
        </p:spPr>
        <p:txBody>
          <a:bodyPr/>
          <a:lstStyle/>
          <a:p>
            <a:endParaRPr lang="en-IN"/>
          </a:p>
        </p:txBody>
      </p:sp>
      <p:sp>
        <p:nvSpPr>
          <p:cNvPr id="27" name="Text 25"/>
          <p:cNvSpPr/>
          <p:nvPr/>
        </p:nvSpPr>
        <p:spPr>
          <a:xfrm>
            <a:off x="407126" y="4560026"/>
            <a:ext cx="8229600" cy="228600"/>
          </a:xfrm>
          <a:prstGeom prst="rect">
            <a:avLst/>
          </a:prstGeom>
          <a:noFill/>
          <a:ln/>
        </p:spPr>
        <p:txBody>
          <a:bodyPr wrap="square" rtlCol="0" anchor="ctr"/>
          <a:lstStyle/>
          <a:p>
            <a:pPr marL="0" indent="0" algn="ctr">
              <a:buNone/>
            </a:pPr>
            <a:r>
              <a:rPr lang="en-US" sz="1000" b="1" dirty="0">
                <a:solidFill>
                  <a:srgbClr val="8B5CF6"/>
                </a:solidFill>
                <a:latin typeface="Segoe UI" pitchFamily="34" charset="0"/>
                <a:ea typeface="Segoe UI" pitchFamily="34" charset="-122"/>
                <a:cs typeface="Segoe UI" pitchFamily="34" charset="-120"/>
              </a:rPr>
              <a:t>💡 Production BFSI systems typically use all three at different points in the same process</a:t>
            </a:r>
            <a:endParaRPr lang="en-US" sz="100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0" name="Text 28"/>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Escalation &amp; Timeout Policies</a:t>
            </a:r>
            <a:endParaRPr lang="en-US" sz="3000" dirty="0"/>
          </a:p>
        </p:txBody>
      </p:sp>
      <p:sp>
        <p:nvSpPr>
          <p:cNvPr id="4" name="Shape 2"/>
          <p:cNvSpPr/>
          <p:nvPr/>
        </p:nvSpPr>
        <p:spPr>
          <a:xfrm>
            <a:off x="640080" y="868680"/>
            <a:ext cx="7863840" cy="548640"/>
          </a:xfrm>
          <a:prstGeom prst="rect">
            <a:avLst/>
          </a:prstGeom>
          <a:solidFill>
            <a:srgbClr val="FEF3C7"/>
          </a:solidFill>
          <a:ln/>
        </p:spPr>
        <p:txBody>
          <a:bodyPr/>
          <a:lstStyle/>
          <a:p>
            <a:endParaRPr lang="en-IN"/>
          </a:p>
        </p:txBody>
      </p:sp>
      <p:sp>
        <p:nvSpPr>
          <p:cNvPr id="5" name="Text 3"/>
          <p:cNvSpPr/>
          <p:nvPr/>
        </p:nvSpPr>
        <p:spPr>
          <a:xfrm>
            <a:off x="822960" y="960120"/>
            <a:ext cx="7498080" cy="36576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In BFSI operations, an unanswered approval request is a compliance risk. Escalation and timeout policies ensure approvals are actioned within defined SLAs.</a:t>
            </a:r>
            <a:endParaRPr lang="en-US" sz="1100" dirty="0"/>
          </a:p>
        </p:txBody>
      </p:sp>
      <p:sp>
        <p:nvSpPr>
          <p:cNvPr id="6" name="Shape 4"/>
          <p:cNvSpPr/>
          <p:nvPr/>
        </p:nvSpPr>
        <p:spPr>
          <a:xfrm>
            <a:off x="457200" y="1554480"/>
            <a:ext cx="8229600" cy="685800"/>
          </a:xfrm>
          <a:prstGeom prst="rect">
            <a:avLst/>
          </a:prstGeom>
          <a:solidFill>
            <a:srgbClr val="FFFFFF"/>
          </a:solidFill>
          <a:ln/>
        </p:spPr>
        <p:txBody>
          <a:bodyPr/>
          <a:lstStyle/>
          <a:p>
            <a:endParaRPr lang="en-IN"/>
          </a:p>
        </p:txBody>
      </p:sp>
      <p:sp>
        <p:nvSpPr>
          <p:cNvPr id="7" name="Shape 5"/>
          <p:cNvSpPr/>
          <p:nvPr/>
        </p:nvSpPr>
        <p:spPr>
          <a:xfrm>
            <a:off x="457200" y="1554480"/>
            <a:ext cx="73152" cy="685800"/>
          </a:xfrm>
          <a:prstGeom prst="rect">
            <a:avLst/>
          </a:prstGeom>
          <a:solidFill>
            <a:srgbClr val="F59E0B"/>
          </a:solidFill>
          <a:ln/>
        </p:spPr>
        <p:txBody>
          <a:bodyPr/>
          <a:lstStyle/>
          <a:p>
            <a:endParaRPr lang="en-IN"/>
          </a:p>
        </p:txBody>
      </p:sp>
      <p:sp>
        <p:nvSpPr>
          <p:cNvPr id="8" name="Text 6"/>
          <p:cNvSpPr/>
          <p:nvPr/>
        </p:nvSpPr>
        <p:spPr>
          <a:xfrm>
            <a:off x="685800" y="162763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Reminder</a:t>
            </a:r>
            <a:endParaRPr lang="en-US" sz="1100" dirty="0"/>
          </a:p>
        </p:txBody>
      </p:sp>
      <p:sp>
        <p:nvSpPr>
          <p:cNvPr id="9" name="Text 7"/>
          <p:cNvSpPr/>
          <p:nvPr/>
        </p:nvSpPr>
        <p:spPr>
          <a:xfrm>
            <a:off x="685800" y="192024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After 50% of SLA elapsed</a:t>
            </a:r>
            <a:endParaRPr lang="en-US" sz="900" dirty="0"/>
          </a:p>
        </p:txBody>
      </p:sp>
      <p:sp>
        <p:nvSpPr>
          <p:cNvPr id="10" name="Text 8"/>
          <p:cNvSpPr/>
          <p:nvPr/>
        </p:nvSpPr>
        <p:spPr>
          <a:xfrm>
            <a:off x="2103120" y="169164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Send reminder notification to original approver</a:t>
            </a:r>
            <a:endParaRPr lang="en-US" sz="1000" dirty="0"/>
          </a:p>
        </p:txBody>
      </p:sp>
      <p:sp>
        <p:nvSpPr>
          <p:cNvPr id="11" name="Text 9"/>
          <p:cNvSpPr/>
          <p:nvPr/>
        </p:nvSpPr>
        <p:spPr>
          <a:xfrm>
            <a:off x="5394960" y="169164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Scheduled flow checks pending approvals</a:t>
            </a:r>
            <a:endParaRPr lang="en-US" sz="900" dirty="0"/>
          </a:p>
        </p:txBody>
      </p:sp>
      <p:sp>
        <p:nvSpPr>
          <p:cNvPr id="12" name="Shape 10"/>
          <p:cNvSpPr/>
          <p:nvPr/>
        </p:nvSpPr>
        <p:spPr>
          <a:xfrm>
            <a:off x="457200" y="2331720"/>
            <a:ext cx="8229600" cy="685800"/>
          </a:xfrm>
          <a:prstGeom prst="rect">
            <a:avLst/>
          </a:prstGeom>
          <a:solidFill>
            <a:srgbClr val="F1F5F9"/>
          </a:solidFill>
          <a:ln/>
        </p:spPr>
        <p:txBody>
          <a:bodyPr/>
          <a:lstStyle/>
          <a:p>
            <a:endParaRPr lang="en-IN"/>
          </a:p>
        </p:txBody>
      </p:sp>
      <p:sp>
        <p:nvSpPr>
          <p:cNvPr id="13" name="Shape 11"/>
          <p:cNvSpPr/>
          <p:nvPr/>
        </p:nvSpPr>
        <p:spPr>
          <a:xfrm>
            <a:off x="457200" y="2331720"/>
            <a:ext cx="73152" cy="685800"/>
          </a:xfrm>
          <a:prstGeom prst="rect">
            <a:avLst/>
          </a:prstGeom>
          <a:solidFill>
            <a:srgbClr val="F59E0B"/>
          </a:solidFill>
          <a:ln/>
        </p:spPr>
        <p:txBody>
          <a:bodyPr/>
          <a:lstStyle/>
          <a:p>
            <a:endParaRPr lang="en-IN"/>
          </a:p>
        </p:txBody>
      </p:sp>
      <p:sp>
        <p:nvSpPr>
          <p:cNvPr id="14" name="Text 12"/>
          <p:cNvSpPr/>
          <p:nvPr/>
        </p:nvSpPr>
        <p:spPr>
          <a:xfrm>
            <a:off x="685800" y="240487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Escalation</a:t>
            </a:r>
            <a:endParaRPr lang="en-US" sz="1100" dirty="0"/>
          </a:p>
        </p:txBody>
      </p:sp>
      <p:sp>
        <p:nvSpPr>
          <p:cNvPr id="15" name="Text 13"/>
          <p:cNvSpPr/>
          <p:nvPr/>
        </p:nvSpPr>
        <p:spPr>
          <a:xfrm>
            <a:off x="685800" y="269748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After 75% of SLA elapsed</a:t>
            </a:r>
            <a:endParaRPr lang="en-US" sz="900" dirty="0"/>
          </a:p>
        </p:txBody>
      </p:sp>
      <p:sp>
        <p:nvSpPr>
          <p:cNvPr id="16" name="Text 14"/>
          <p:cNvSpPr/>
          <p:nvPr/>
        </p:nvSpPr>
        <p:spPr>
          <a:xfrm>
            <a:off x="2103120" y="246888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Add manager as additional approver</a:t>
            </a:r>
            <a:endParaRPr lang="en-US" sz="1000" dirty="0"/>
          </a:p>
        </p:txBody>
      </p:sp>
      <p:sp>
        <p:nvSpPr>
          <p:cNvPr id="17" name="Text 15"/>
          <p:cNvSpPr/>
          <p:nvPr/>
        </p:nvSpPr>
        <p:spPr>
          <a:xfrm>
            <a:off x="5394960" y="246888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adds approver, sends new notification</a:t>
            </a:r>
            <a:endParaRPr lang="en-US" sz="900" dirty="0"/>
          </a:p>
        </p:txBody>
      </p:sp>
      <p:sp>
        <p:nvSpPr>
          <p:cNvPr id="18" name="Shape 16"/>
          <p:cNvSpPr/>
          <p:nvPr/>
        </p:nvSpPr>
        <p:spPr>
          <a:xfrm>
            <a:off x="457200" y="3108960"/>
            <a:ext cx="8229600" cy="685800"/>
          </a:xfrm>
          <a:prstGeom prst="rect">
            <a:avLst/>
          </a:prstGeom>
          <a:solidFill>
            <a:srgbClr val="FFFFFF"/>
          </a:solidFill>
          <a:ln/>
        </p:spPr>
        <p:txBody>
          <a:bodyPr/>
          <a:lstStyle/>
          <a:p>
            <a:endParaRPr lang="en-IN"/>
          </a:p>
        </p:txBody>
      </p:sp>
      <p:sp>
        <p:nvSpPr>
          <p:cNvPr id="19" name="Shape 17"/>
          <p:cNvSpPr/>
          <p:nvPr/>
        </p:nvSpPr>
        <p:spPr>
          <a:xfrm>
            <a:off x="457200" y="3108960"/>
            <a:ext cx="73152" cy="685800"/>
          </a:xfrm>
          <a:prstGeom prst="rect">
            <a:avLst/>
          </a:prstGeom>
          <a:solidFill>
            <a:srgbClr val="F59E0B"/>
          </a:solidFill>
          <a:ln/>
        </p:spPr>
        <p:txBody>
          <a:bodyPr/>
          <a:lstStyle/>
          <a:p>
            <a:endParaRPr lang="en-IN"/>
          </a:p>
        </p:txBody>
      </p:sp>
      <p:sp>
        <p:nvSpPr>
          <p:cNvPr id="20" name="Text 18"/>
          <p:cNvSpPr/>
          <p:nvPr/>
        </p:nvSpPr>
        <p:spPr>
          <a:xfrm>
            <a:off x="685800" y="318211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Reassignment</a:t>
            </a:r>
            <a:endParaRPr lang="en-US" sz="1100" dirty="0"/>
          </a:p>
        </p:txBody>
      </p:sp>
      <p:sp>
        <p:nvSpPr>
          <p:cNvPr id="21" name="Text 19"/>
          <p:cNvSpPr/>
          <p:nvPr/>
        </p:nvSpPr>
        <p:spPr>
          <a:xfrm>
            <a:off x="685800" y="347472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At 100% of SLA</a:t>
            </a:r>
            <a:endParaRPr lang="en-US" sz="900" dirty="0"/>
          </a:p>
        </p:txBody>
      </p:sp>
      <p:sp>
        <p:nvSpPr>
          <p:cNvPr id="22" name="Text 20"/>
          <p:cNvSpPr/>
          <p:nvPr/>
        </p:nvSpPr>
        <p:spPr>
          <a:xfrm>
            <a:off x="2103120" y="324612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Reassign to backup approver</a:t>
            </a:r>
            <a:endParaRPr lang="en-US" sz="1000" dirty="0"/>
          </a:p>
        </p:txBody>
      </p:sp>
      <p:sp>
        <p:nvSpPr>
          <p:cNvPr id="23" name="Text 21"/>
          <p:cNvSpPr/>
          <p:nvPr/>
        </p:nvSpPr>
        <p:spPr>
          <a:xfrm>
            <a:off x="5394960" y="324612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updates approver, cancels original</a:t>
            </a:r>
            <a:endParaRPr lang="en-US" sz="900" dirty="0"/>
          </a:p>
        </p:txBody>
      </p:sp>
      <p:sp>
        <p:nvSpPr>
          <p:cNvPr id="24" name="Shape 22"/>
          <p:cNvSpPr/>
          <p:nvPr/>
        </p:nvSpPr>
        <p:spPr>
          <a:xfrm>
            <a:off x="457200" y="3886200"/>
            <a:ext cx="8229600" cy="685800"/>
          </a:xfrm>
          <a:prstGeom prst="rect">
            <a:avLst/>
          </a:prstGeom>
          <a:solidFill>
            <a:srgbClr val="F1F5F9"/>
          </a:solidFill>
          <a:ln/>
        </p:spPr>
        <p:txBody>
          <a:bodyPr/>
          <a:lstStyle/>
          <a:p>
            <a:endParaRPr lang="en-IN"/>
          </a:p>
        </p:txBody>
      </p:sp>
      <p:sp>
        <p:nvSpPr>
          <p:cNvPr id="25" name="Shape 23"/>
          <p:cNvSpPr/>
          <p:nvPr/>
        </p:nvSpPr>
        <p:spPr>
          <a:xfrm>
            <a:off x="457200" y="3886200"/>
            <a:ext cx="73152" cy="685800"/>
          </a:xfrm>
          <a:prstGeom prst="rect">
            <a:avLst/>
          </a:prstGeom>
          <a:solidFill>
            <a:srgbClr val="EF4444"/>
          </a:solidFill>
          <a:ln/>
        </p:spPr>
        <p:txBody>
          <a:bodyPr/>
          <a:lstStyle/>
          <a:p>
            <a:endParaRPr lang="en-IN"/>
          </a:p>
        </p:txBody>
      </p:sp>
      <p:sp>
        <p:nvSpPr>
          <p:cNvPr id="26" name="Text 24"/>
          <p:cNvSpPr/>
          <p:nvPr/>
        </p:nvSpPr>
        <p:spPr>
          <a:xfrm>
            <a:off x="685800" y="395935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Auto-Action</a:t>
            </a:r>
            <a:endParaRPr lang="en-US" sz="1100" dirty="0"/>
          </a:p>
        </p:txBody>
      </p:sp>
      <p:sp>
        <p:nvSpPr>
          <p:cNvPr id="27" name="Text 25"/>
          <p:cNvSpPr/>
          <p:nvPr/>
        </p:nvSpPr>
        <p:spPr>
          <a:xfrm>
            <a:off x="685800" y="425196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After escalation timeout</a:t>
            </a:r>
            <a:endParaRPr lang="en-US" sz="900" dirty="0"/>
          </a:p>
        </p:txBody>
      </p:sp>
      <p:sp>
        <p:nvSpPr>
          <p:cNvPr id="28" name="Text 26"/>
          <p:cNvSpPr/>
          <p:nvPr/>
        </p:nvSpPr>
        <p:spPr>
          <a:xfrm>
            <a:off x="2103120" y="402336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Auto-reject with "Approval Timeout" reason</a:t>
            </a:r>
            <a:endParaRPr lang="en-US" sz="1000" dirty="0"/>
          </a:p>
        </p:txBody>
      </p:sp>
      <p:sp>
        <p:nvSpPr>
          <p:cNvPr id="29" name="Text 27"/>
          <p:cNvSpPr/>
          <p:nvPr/>
        </p:nvSpPr>
        <p:spPr>
          <a:xfrm>
            <a:off x="5394960" y="402336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rejects, logs reason, notifies stakeholders</a:t>
            </a:r>
            <a:endParaRPr lang="en-US" sz="900" dirty="0"/>
          </a:p>
        </p:txBody>
      </p:sp>
      <p:sp>
        <p:nvSpPr>
          <p:cNvPr id="30" name="Shape 28"/>
          <p:cNvSpPr/>
          <p:nvPr/>
        </p:nvSpPr>
        <p:spPr>
          <a:xfrm>
            <a:off x="0" y="4846320"/>
            <a:ext cx="9144000" cy="297180"/>
          </a:xfrm>
          <a:prstGeom prst="rect">
            <a:avLst/>
          </a:prstGeom>
          <a:solidFill>
            <a:srgbClr val="F1F5F9"/>
          </a:solidFill>
          <a:ln/>
        </p:spPr>
        <p:txBody>
          <a:bodyPr/>
          <a:lstStyle/>
          <a:p>
            <a:endParaRPr lang="en-IN"/>
          </a:p>
        </p:txBody>
      </p:sp>
      <p:sp>
        <p:nvSpPr>
          <p:cNvPr id="31" name="Text 2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2" name="Text 30"/>
          <p:cNvSpPr/>
          <p:nvPr/>
        </p:nvSpPr>
        <p:spPr>
          <a:xfrm>
            <a:off x="7955280" y="484051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15 / 28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Integration Architecture: Agent → Approval → Agent</a:t>
            </a:r>
            <a:endParaRPr lang="en-US" sz="26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 end-to-end flow integrates Copilot Studio agents with Power Automate approval workflows:</a:t>
            </a:r>
            <a:endParaRPr lang="en-US" sz="1200" dirty="0"/>
          </a:p>
        </p:txBody>
      </p:sp>
      <p:sp>
        <p:nvSpPr>
          <p:cNvPr id="5" name="Shape 3"/>
          <p:cNvSpPr/>
          <p:nvPr/>
        </p:nvSpPr>
        <p:spPr>
          <a:xfrm>
            <a:off x="457200" y="1188720"/>
            <a:ext cx="8229600" cy="530352"/>
          </a:xfrm>
          <a:prstGeom prst="rect">
            <a:avLst/>
          </a:prstGeom>
          <a:solidFill>
            <a:srgbClr val="F1F5F9"/>
          </a:solidFill>
          <a:ln/>
        </p:spPr>
        <p:txBody>
          <a:bodyPr/>
          <a:lstStyle/>
          <a:p>
            <a:endParaRPr lang="en-IN"/>
          </a:p>
        </p:txBody>
      </p:sp>
      <p:sp>
        <p:nvSpPr>
          <p:cNvPr id="6" name="Shape 4"/>
          <p:cNvSpPr/>
          <p:nvPr/>
        </p:nvSpPr>
        <p:spPr>
          <a:xfrm>
            <a:off x="548640" y="1280160"/>
            <a:ext cx="347472" cy="347472"/>
          </a:xfrm>
          <a:prstGeom prst="line">
            <a:avLst/>
          </a:prstGeom>
          <a:solidFill>
            <a:srgbClr val="0891B2"/>
          </a:solidFill>
          <a:ln/>
        </p:spPr>
        <p:txBody>
          <a:bodyPr/>
          <a:lstStyle/>
          <a:p>
            <a:endParaRPr lang="en-IN"/>
          </a:p>
        </p:txBody>
      </p:sp>
      <p:sp>
        <p:nvSpPr>
          <p:cNvPr id="7" name="Text 5"/>
          <p:cNvSpPr/>
          <p:nvPr/>
        </p:nvSpPr>
        <p:spPr>
          <a:xfrm>
            <a:off x="548640" y="128016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8" name="Text 6"/>
          <p:cNvSpPr/>
          <p:nvPr/>
        </p:nvSpPr>
        <p:spPr>
          <a:xfrm>
            <a:off x="1051560" y="126187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Receives Claim</a:t>
            </a:r>
            <a:endParaRPr lang="en-US" sz="1100" dirty="0"/>
          </a:p>
        </p:txBody>
      </p:sp>
      <p:sp>
        <p:nvSpPr>
          <p:cNvPr id="9" name="Text 7"/>
          <p:cNvSpPr/>
          <p:nvPr/>
        </p:nvSpPr>
        <p:spPr>
          <a:xfrm>
            <a:off x="1051560" y="148132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User submits claim via conversational agent</a:t>
            </a:r>
            <a:endParaRPr lang="en-US" sz="900" dirty="0"/>
          </a:p>
        </p:txBody>
      </p:sp>
      <p:sp>
        <p:nvSpPr>
          <p:cNvPr id="10" name="Shape 8"/>
          <p:cNvSpPr/>
          <p:nvPr/>
        </p:nvSpPr>
        <p:spPr>
          <a:xfrm>
            <a:off x="6583680" y="1325880"/>
            <a:ext cx="1920240" cy="256032"/>
          </a:xfrm>
          <a:prstGeom prst="rect">
            <a:avLst/>
          </a:prstGeom>
          <a:solidFill>
            <a:srgbClr val="0891B2"/>
          </a:solidFill>
          <a:ln/>
        </p:spPr>
        <p:txBody>
          <a:bodyPr/>
          <a:lstStyle/>
          <a:p>
            <a:endParaRPr lang="en-IN"/>
          </a:p>
        </p:txBody>
      </p:sp>
      <p:sp>
        <p:nvSpPr>
          <p:cNvPr id="11" name="Text 9"/>
          <p:cNvSpPr/>
          <p:nvPr/>
        </p:nvSpPr>
        <p:spPr>
          <a:xfrm>
            <a:off x="6583680" y="132588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Copilot Studio</a:t>
            </a:r>
            <a:endParaRPr lang="en-US" sz="800" dirty="0"/>
          </a:p>
        </p:txBody>
      </p:sp>
      <p:sp>
        <p:nvSpPr>
          <p:cNvPr id="12" name="Shape 10"/>
          <p:cNvSpPr/>
          <p:nvPr/>
        </p:nvSpPr>
        <p:spPr>
          <a:xfrm>
            <a:off x="457200" y="1783080"/>
            <a:ext cx="8229600" cy="530352"/>
          </a:xfrm>
          <a:prstGeom prst="rect">
            <a:avLst/>
          </a:prstGeom>
          <a:solidFill>
            <a:srgbClr val="FFFFFF"/>
          </a:solidFill>
          <a:ln/>
        </p:spPr>
        <p:txBody>
          <a:bodyPr/>
          <a:lstStyle/>
          <a:p>
            <a:endParaRPr lang="en-IN"/>
          </a:p>
        </p:txBody>
      </p:sp>
      <p:sp>
        <p:nvSpPr>
          <p:cNvPr id="13" name="Shape 11"/>
          <p:cNvSpPr/>
          <p:nvPr/>
        </p:nvSpPr>
        <p:spPr>
          <a:xfrm>
            <a:off x="548640" y="1874520"/>
            <a:ext cx="347472" cy="347472"/>
          </a:xfrm>
          <a:prstGeom prst="line">
            <a:avLst/>
          </a:prstGeom>
          <a:solidFill>
            <a:srgbClr val="0891B2"/>
          </a:solidFill>
          <a:ln/>
        </p:spPr>
        <p:txBody>
          <a:bodyPr/>
          <a:lstStyle/>
          <a:p>
            <a:endParaRPr lang="en-IN"/>
          </a:p>
        </p:txBody>
      </p:sp>
      <p:sp>
        <p:nvSpPr>
          <p:cNvPr id="14" name="Text 12"/>
          <p:cNvSpPr/>
          <p:nvPr/>
        </p:nvSpPr>
        <p:spPr>
          <a:xfrm>
            <a:off x="548640" y="187452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5" name="Text 13"/>
          <p:cNvSpPr/>
          <p:nvPr/>
        </p:nvSpPr>
        <p:spPr>
          <a:xfrm>
            <a:off x="1051560" y="185623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Flow Triages</a:t>
            </a:r>
            <a:endParaRPr lang="en-US" sz="1100" dirty="0"/>
          </a:p>
        </p:txBody>
      </p:sp>
      <p:sp>
        <p:nvSpPr>
          <p:cNvPr id="16" name="Text 14"/>
          <p:cNvSpPr/>
          <p:nvPr/>
        </p:nvSpPr>
        <p:spPr>
          <a:xfrm>
            <a:off x="1051560" y="207568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Autonomous flow classifies priority and routes</a:t>
            </a:r>
            <a:endParaRPr lang="en-US" sz="900" dirty="0"/>
          </a:p>
        </p:txBody>
      </p:sp>
      <p:sp>
        <p:nvSpPr>
          <p:cNvPr id="17" name="Shape 15"/>
          <p:cNvSpPr/>
          <p:nvPr/>
        </p:nvSpPr>
        <p:spPr>
          <a:xfrm>
            <a:off x="6583680" y="1920240"/>
            <a:ext cx="1920240" cy="256032"/>
          </a:xfrm>
          <a:prstGeom prst="rect">
            <a:avLst/>
          </a:prstGeom>
          <a:solidFill>
            <a:srgbClr val="22C55E"/>
          </a:solidFill>
          <a:ln/>
        </p:spPr>
        <p:txBody>
          <a:bodyPr/>
          <a:lstStyle/>
          <a:p>
            <a:endParaRPr lang="en-IN"/>
          </a:p>
        </p:txBody>
      </p:sp>
      <p:sp>
        <p:nvSpPr>
          <p:cNvPr id="18" name="Text 16"/>
          <p:cNvSpPr/>
          <p:nvPr/>
        </p:nvSpPr>
        <p:spPr>
          <a:xfrm>
            <a:off x="6583680" y="192024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Agent Flow (M07)</a:t>
            </a:r>
            <a:endParaRPr lang="en-US" sz="800" dirty="0"/>
          </a:p>
        </p:txBody>
      </p:sp>
      <p:sp>
        <p:nvSpPr>
          <p:cNvPr id="19" name="Shape 17"/>
          <p:cNvSpPr/>
          <p:nvPr/>
        </p:nvSpPr>
        <p:spPr>
          <a:xfrm>
            <a:off x="457200" y="2377440"/>
            <a:ext cx="8229600" cy="530352"/>
          </a:xfrm>
          <a:prstGeom prst="rect">
            <a:avLst/>
          </a:prstGeom>
          <a:solidFill>
            <a:srgbClr val="F1F5F9"/>
          </a:solidFill>
          <a:ln/>
        </p:spPr>
        <p:txBody>
          <a:bodyPr/>
          <a:lstStyle/>
          <a:p>
            <a:endParaRPr lang="en-IN"/>
          </a:p>
        </p:txBody>
      </p:sp>
      <p:sp>
        <p:nvSpPr>
          <p:cNvPr id="20" name="Shape 18"/>
          <p:cNvSpPr/>
          <p:nvPr/>
        </p:nvSpPr>
        <p:spPr>
          <a:xfrm>
            <a:off x="548640" y="2468880"/>
            <a:ext cx="347472" cy="347472"/>
          </a:xfrm>
          <a:prstGeom prst="line">
            <a:avLst/>
          </a:prstGeom>
          <a:solidFill>
            <a:srgbClr val="0891B2"/>
          </a:solidFill>
          <a:ln/>
        </p:spPr>
        <p:txBody>
          <a:bodyPr/>
          <a:lstStyle/>
          <a:p>
            <a:endParaRPr lang="en-IN"/>
          </a:p>
        </p:txBody>
      </p:sp>
      <p:sp>
        <p:nvSpPr>
          <p:cNvPr id="21" name="Text 19"/>
          <p:cNvSpPr/>
          <p:nvPr/>
        </p:nvSpPr>
        <p:spPr>
          <a:xfrm>
            <a:off x="548640" y="246888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2" name="Text 20"/>
          <p:cNvSpPr/>
          <p:nvPr/>
        </p:nvSpPr>
        <p:spPr>
          <a:xfrm>
            <a:off x="1051560" y="245059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Approval Triggered</a:t>
            </a:r>
            <a:endParaRPr lang="en-US" sz="1100" dirty="0"/>
          </a:p>
        </p:txBody>
      </p:sp>
      <p:sp>
        <p:nvSpPr>
          <p:cNvPr id="23" name="Text 21"/>
          <p:cNvSpPr/>
          <p:nvPr/>
        </p:nvSpPr>
        <p:spPr>
          <a:xfrm>
            <a:off x="1051560" y="267004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Agent calls Power Automate approval flow</a:t>
            </a:r>
            <a:endParaRPr lang="en-US" sz="900" dirty="0"/>
          </a:p>
        </p:txBody>
      </p:sp>
      <p:sp>
        <p:nvSpPr>
          <p:cNvPr id="24" name="Shape 22"/>
          <p:cNvSpPr/>
          <p:nvPr/>
        </p:nvSpPr>
        <p:spPr>
          <a:xfrm>
            <a:off x="6583680" y="2514600"/>
            <a:ext cx="1920240" cy="256032"/>
          </a:xfrm>
          <a:prstGeom prst="rect">
            <a:avLst/>
          </a:prstGeom>
          <a:solidFill>
            <a:srgbClr val="22C55E"/>
          </a:solidFill>
          <a:ln/>
        </p:spPr>
        <p:txBody>
          <a:bodyPr/>
          <a:lstStyle/>
          <a:p>
            <a:endParaRPr lang="en-IN"/>
          </a:p>
        </p:txBody>
      </p:sp>
      <p:sp>
        <p:nvSpPr>
          <p:cNvPr id="25" name="Text 23"/>
          <p:cNvSpPr/>
          <p:nvPr/>
        </p:nvSpPr>
        <p:spPr>
          <a:xfrm>
            <a:off x="6583680" y="251460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Power Automate</a:t>
            </a:r>
            <a:endParaRPr lang="en-US" sz="800" dirty="0"/>
          </a:p>
        </p:txBody>
      </p:sp>
      <p:sp>
        <p:nvSpPr>
          <p:cNvPr id="26" name="Shape 24"/>
          <p:cNvSpPr/>
          <p:nvPr/>
        </p:nvSpPr>
        <p:spPr>
          <a:xfrm>
            <a:off x="457200" y="2971800"/>
            <a:ext cx="8229600" cy="530352"/>
          </a:xfrm>
          <a:prstGeom prst="rect">
            <a:avLst/>
          </a:prstGeom>
          <a:solidFill>
            <a:srgbClr val="FFFFFF"/>
          </a:solidFill>
          <a:ln/>
        </p:spPr>
        <p:txBody>
          <a:bodyPr/>
          <a:lstStyle/>
          <a:p>
            <a:endParaRPr lang="en-IN"/>
          </a:p>
        </p:txBody>
      </p:sp>
      <p:sp>
        <p:nvSpPr>
          <p:cNvPr id="27" name="Shape 25"/>
          <p:cNvSpPr/>
          <p:nvPr/>
        </p:nvSpPr>
        <p:spPr>
          <a:xfrm>
            <a:off x="548640" y="3063240"/>
            <a:ext cx="347472" cy="347472"/>
          </a:xfrm>
          <a:prstGeom prst="line">
            <a:avLst/>
          </a:prstGeom>
          <a:solidFill>
            <a:srgbClr val="0891B2"/>
          </a:solidFill>
          <a:ln/>
        </p:spPr>
        <p:txBody>
          <a:bodyPr/>
          <a:lstStyle/>
          <a:p>
            <a:endParaRPr lang="en-IN"/>
          </a:p>
        </p:txBody>
      </p:sp>
      <p:sp>
        <p:nvSpPr>
          <p:cNvPr id="28" name="Text 26"/>
          <p:cNvSpPr/>
          <p:nvPr/>
        </p:nvSpPr>
        <p:spPr>
          <a:xfrm>
            <a:off x="548640" y="306324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29" name="Text 27"/>
          <p:cNvSpPr/>
          <p:nvPr/>
        </p:nvSpPr>
        <p:spPr>
          <a:xfrm>
            <a:off x="1051560" y="304495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Human Decides</a:t>
            </a:r>
            <a:endParaRPr lang="en-US" sz="1100" dirty="0"/>
          </a:p>
        </p:txBody>
      </p:sp>
      <p:sp>
        <p:nvSpPr>
          <p:cNvPr id="30" name="Text 28"/>
          <p:cNvSpPr/>
          <p:nvPr/>
        </p:nvSpPr>
        <p:spPr>
          <a:xfrm>
            <a:off x="1051560" y="326440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Approver reviews in Teams/Email, makes decision</a:t>
            </a:r>
            <a:endParaRPr lang="en-US" sz="900" dirty="0"/>
          </a:p>
        </p:txBody>
      </p:sp>
      <p:sp>
        <p:nvSpPr>
          <p:cNvPr id="31" name="Shape 29"/>
          <p:cNvSpPr/>
          <p:nvPr/>
        </p:nvSpPr>
        <p:spPr>
          <a:xfrm>
            <a:off x="6583680" y="3108960"/>
            <a:ext cx="1920240" cy="256032"/>
          </a:xfrm>
          <a:prstGeom prst="rect">
            <a:avLst/>
          </a:prstGeom>
          <a:solidFill>
            <a:srgbClr val="F59E0B"/>
          </a:solidFill>
          <a:ln/>
        </p:spPr>
        <p:txBody>
          <a:bodyPr/>
          <a:lstStyle/>
          <a:p>
            <a:endParaRPr lang="en-IN"/>
          </a:p>
        </p:txBody>
      </p:sp>
      <p:sp>
        <p:nvSpPr>
          <p:cNvPr id="32" name="Text 30"/>
          <p:cNvSpPr/>
          <p:nvPr/>
        </p:nvSpPr>
        <p:spPr>
          <a:xfrm>
            <a:off x="6583680" y="310896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Human Approver</a:t>
            </a:r>
            <a:endParaRPr lang="en-US" sz="800" dirty="0"/>
          </a:p>
        </p:txBody>
      </p:sp>
      <p:sp>
        <p:nvSpPr>
          <p:cNvPr id="33" name="Shape 31"/>
          <p:cNvSpPr/>
          <p:nvPr/>
        </p:nvSpPr>
        <p:spPr>
          <a:xfrm>
            <a:off x="457200" y="3566160"/>
            <a:ext cx="8229600" cy="530352"/>
          </a:xfrm>
          <a:prstGeom prst="rect">
            <a:avLst/>
          </a:prstGeom>
          <a:solidFill>
            <a:srgbClr val="F1F5F9"/>
          </a:solidFill>
          <a:ln/>
        </p:spPr>
        <p:txBody>
          <a:bodyPr/>
          <a:lstStyle/>
          <a:p>
            <a:endParaRPr lang="en-IN"/>
          </a:p>
        </p:txBody>
      </p:sp>
      <p:sp>
        <p:nvSpPr>
          <p:cNvPr id="34" name="Shape 32"/>
          <p:cNvSpPr/>
          <p:nvPr/>
        </p:nvSpPr>
        <p:spPr>
          <a:xfrm>
            <a:off x="548640" y="3657600"/>
            <a:ext cx="347472" cy="347472"/>
          </a:xfrm>
          <a:prstGeom prst="line">
            <a:avLst/>
          </a:prstGeom>
          <a:solidFill>
            <a:srgbClr val="0891B2"/>
          </a:solidFill>
          <a:ln/>
        </p:spPr>
        <p:txBody>
          <a:bodyPr/>
          <a:lstStyle/>
          <a:p>
            <a:endParaRPr lang="en-IN"/>
          </a:p>
        </p:txBody>
      </p:sp>
      <p:sp>
        <p:nvSpPr>
          <p:cNvPr id="35" name="Text 33"/>
          <p:cNvSpPr/>
          <p:nvPr/>
        </p:nvSpPr>
        <p:spPr>
          <a:xfrm>
            <a:off x="548640" y="365760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36" name="Text 34"/>
          <p:cNvSpPr/>
          <p:nvPr/>
        </p:nvSpPr>
        <p:spPr>
          <a:xfrm>
            <a:off x="1051560" y="363931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Decision Logged</a:t>
            </a:r>
            <a:endParaRPr lang="en-US" sz="1100" dirty="0"/>
          </a:p>
        </p:txBody>
      </p:sp>
      <p:sp>
        <p:nvSpPr>
          <p:cNvPr id="37" name="Text 35"/>
          <p:cNvSpPr/>
          <p:nvPr/>
        </p:nvSpPr>
        <p:spPr>
          <a:xfrm>
            <a:off x="1051560" y="385876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Approval outcome written to Dataverse audit log</a:t>
            </a:r>
            <a:endParaRPr lang="en-US" sz="900" dirty="0"/>
          </a:p>
        </p:txBody>
      </p:sp>
      <p:sp>
        <p:nvSpPr>
          <p:cNvPr id="38" name="Shape 36"/>
          <p:cNvSpPr/>
          <p:nvPr/>
        </p:nvSpPr>
        <p:spPr>
          <a:xfrm>
            <a:off x="6583680" y="3703320"/>
            <a:ext cx="1920240" cy="256032"/>
          </a:xfrm>
          <a:prstGeom prst="rect">
            <a:avLst/>
          </a:prstGeom>
          <a:solidFill>
            <a:srgbClr val="22C55E"/>
          </a:solidFill>
          <a:ln/>
        </p:spPr>
        <p:txBody>
          <a:bodyPr/>
          <a:lstStyle/>
          <a:p>
            <a:endParaRPr lang="en-IN"/>
          </a:p>
        </p:txBody>
      </p:sp>
      <p:sp>
        <p:nvSpPr>
          <p:cNvPr id="39" name="Text 37"/>
          <p:cNvSpPr/>
          <p:nvPr/>
        </p:nvSpPr>
        <p:spPr>
          <a:xfrm>
            <a:off x="6583680" y="370332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Power Automate</a:t>
            </a:r>
            <a:endParaRPr lang="en-US" sz="800" dirty="0"/>
          </a:p>
        </p:txBody>
      </p:sp>
      <p:sp>
        <p:nvSpPr>
          <p:cNvPr id="40" name="Shape 38"/>
          <p:cNvSpPr/>
          <p:nvPr/>
        </p:nvSpPr>
        <p:spPr>
          <a:xfrm>
            <a:off x="457200" y="4160520"/>
            <a:ext cx="8229600" cy="530352"/>
          </a:xfrm>
          <a:prstGeom prst="rect">
            <a:avLst/>
          </a:prstGeom>
          <a:solidFill>
            <a:srgbClr val="FFFFFF"/>
          </a:solidFill>
          <a:ln/>
        </p:spPr>
        <p:txBody>
          <a:bodyPr/>
          <a:lstStyle/>
          <a:p>
            <a:endParaRPr lang="en-IN"/>
          </a:p>
        </p:txBody>
      </p:sp>
      <p:sp>
        <p:nvSpPr>
          <p:cNvPr id="41" name="Shape 39"/>
          <p:cNvSpPr/>
          <p:nvPr/>
        </p:nvSpPr>
        <p:spPr>
          <a:xfrm>
            <a:off x="548640" y="4251960"/>
            <a:ext cx="347472" cy="347472"/>
          </a:xfrm>
          <a:prstGeom prst="line">
            <a:avLst/>
          </a:prstGeom>
          <a:solidFill>
            <a:srgbClr val="0891B2"/>
          </a:solidFill>
          <a:ln/>
        </p:spPr>
        <p:txBody>
          <a:bodyPr/>
          <a:lstStyle/>
          <a:p>
            <a:endParaRPr lang="en-IN"/>
          </a:p>
        </p:txBody>
      </p:sp>
      <p:sp>
        <p:nvSpPr>
          <p:cNvPr id="42" name="Text 40"/>
          <p:cNvSpPr/>
          <p:nvPr/>
        </p:nvSpPr>
        <p:spPr>
          <a:xfrm>
            <a:off x="548640" y="425196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6</a:t>
            </a:r>
            <a:endParaRPr lang="en-US" sz="1200" dirty="0"/>
          </a:p>
        </p:txBody>
      </p:sp>
      <p:sp>
        <p:nvSpPr>
          <p:cNvPr id="43" name="Text 41"/>
          <p:cNvSpPr/>
          <p:nvPr/>
        </p:nvSpPr>
        <p:spPr>
          <a:xfrm>
            <a:off x="1051560" y="423367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Notifies</a:t>
            </a:r>
            <a:endParaRPr lang="en-US" sz="1100" dirty="0"/>
          </a:p>
        </p:txBody>
      </p:sp>
      <p:sp>
        <p:nvSpPr>
          <p:cNvPr id="44" name="Text 42"/>
          <p:cNvSpPr/>
          <p:nvPr/>
        </p:nvSpPr>
        <p:spPr>
          <a:xfrm>
            <a:off x="1051560" y="445312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Agent sends outcome notification to stakeholders</a:t>
            </a:r>
            <a:endParaRPr lang="en-US" sz="900" dirty="0"/>
          </a:p>
        </p:txBody>
      </p:sp>
      <p:sp>
        <p:nvSpPr>
          <p:cNvPr id="45" name="Shape 43"/>
          <p:cNvSpPr/>
          <p:nvPr/>
        </p:nvSpPr>
        <p:spPr>
          <a:xfrm>
            <a:off x="6583680" y="4297680"/>
            <a:ext cx="1920240" cy="256032"/>
          </a:xfrm>
          <a:prstGeom prst="rect">
            <a:avLst/>
          </a:prstGeom>
          <a:solidFill>
            <a:srgbClr val="0891B2"/>
          </a:solidFill>
          <a:ln/>
        </p:spPr>
        <p:txBody>
          <a:bodyPr/>
          <a:lstStyle/>
          <a:p>
            <a:endParaRPr lang="en-IN"/>
          </a:p>
        </p:txBody>
      </p:sp>
      <p:sp>
        <p:nvSpPr>
          <p:cNvPr id="46" name="Text 44"/>
          <p:cNvSpPr/>
          <p:nvPr/>
        </p:nvSpPr>
        <p:spPr>
          <a:xfrm>
            <a:off x="6583680" y="429768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Copilot Studio</a:t>
            </a:r>
            <a:endParaRPr lang="en-US" sz="800" dirty="0"/>
          </a:p>
        </p:txBody>
      </p:sp>
      <p:sp>
        <p:nvSpPr>
          <p:cNvPr id="47" name="Shape 45"/>
          <p:cNvSpPr/>
          <p:nvPr/>
        </p:nvSpPr>
        <p:spPr>
          <a:xfrm>
            <a:off x="0" y="4846320"/>
            <a:ext cx="9144000" cy="297180"/>
          </a:xfrm>
          <a:prstGeom prst="rect">
            <a:avLst/>
          </a:prstGeom>
          <a:solidFill>
            <a:srgbClr val="F1F5F9"/>
          </a:solidFill>
          <a:ln/>
        </p:spPr>
        <p:txBody>
          <a:bodyPr/>
          <a:lstStyle/>
          <a:p>
            <a:endParaRPr lang="en-IN"/>
          </a:p>
        </p:txBody>
      </p:sp>
      <p:sp>
        <p:nvSpPr>
          <p:cNvPr id="48" name="Text 46"/>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49" name="Text 47"/>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16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Knowledge Check</a:t>
            </a:r>
            <a:endParaRPr lang="en-US" sz="3600" dirty="0"/>
          </a:p>
        </p:txBody>
      </p:sp>
      <p:sp>
        <p:nvSpPr>
          <p:cNvPr id="5" name="Text 3"/>
          <p:cNvSpPr/>
          <p:nvPr/>
        </p:nvSpPr>
        <p:spPr>
          <a:xfrm>
            <a:off x="914400" y="2743200"/>
            <a:ext cx="7315200" cy="365760"/>
          </a:xfrm>
          <a:prstGeom prst="rect">
            <a:avLst/>
          </a:prstGeom>
          <a:noFill/>
          <a:ln/>
        </p:spPr>
        <p:txBody>
          <a:bodyPr wrap="square" rtlCol="0" anchor="ctr"/>
          <a:lstStyle/>
          <a:p>
            <a:pPr marL="0" indent="0" algn="ctr">
              <a:buNone/>
            </a:pPr>
            <a:r>
              <a:rPr lang="en-US" sz="1400" dirty="0">
                <a:solidFill>
                  <a:srgbClr val="94A3B8"/>
                </a:solidFill>
                <a:latin typeface="Segoe UI" pitchFamily="34" charset="0"/>
                <a:ea typeface="Segoe UI" pitchFamily="34" charset="-122"/>
                <a:cs typeface="Segoe UI" pitchFamily="34" charset="-120"/>
              </a:rPr>
              <a:t>Test your understanding with 3 quick questions</a:t>
            </a:r>
            <a:endParaRPr lang="en-US" sz="1400" dirty="0"/>
          </a:p>
        </p:txBody>
      </p:sp>
      <p:sp>
        <p:nvSpPr>
          <p:cNvPr id="6" name="Text 19">
            <a:extLst>
              <a:ext uri="{FF2B5EF4-FFF2-40B4-BE49-F238E27FC236}">
                <a16:creationId xmlns:a16="http://schemas.microsoft.com/office/drawing/2014/main" id="{65914826-14C4-2DA2-4B51-EDB01A2D1C43}"/>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20 / 28</a:t>
            </a:r>
            <a:endParaRPr lang="en-US" sz="9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three critical functions that human-in-the-loop serves in agentic AI systems?</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Speed, Accuracy, Cost Reduction</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Decision Authority, Quality Assurance, Accountability</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Automation, Integration, Notification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Compliance, Reporting, Analytics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4051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21 / 28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three critical functions that human-in-the-loop serves in agentic AI systems?</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Speed, Accuracy, Cost Reduction</a:t>
            </a:r>
            <a:endParaRPr lang="en-US" sz="1300" dirty="0"/>
          </a:p>
        </p:txBody>
      </p:sp>
      <p:sp>
        <p:nvSpPr>
          <p:cNvPr id="8" name="Shape 6"/>
          <p:cNvSpPr/>
          <p:nvPr/>
        </p:nvSpPr>
        <p:spPr>
          <a:xfrm>
            <a:off x="731520" y="2670048"/>
            <a:ext cx="7498080" cy="548640"/>
          </a:xfrm>
          <a:prstGeom prst="rect">
            <a:avLst/>
          </a:prstGeom>
          <a:solidFill>
            <a:srgbClr val="DCFCE7"/>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Decision Authority, Quality Assurance, Accountability</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Automation, Integration, Notification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Compliance, Reporting, Analytics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22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For a claim above ₹25 lakh, which approval pattern is most appropriate?</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Approve/Reject with single approver</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First to Respond for speed</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Multi-level sequential (approval chain)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Full automation with post-facto audit</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77889"/>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23 / 28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For a claim above ₹25 lakh, which approval pattern is most appropriate?</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Approve/Reject with single approver</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First to Respond for speed</a:t>
            </a:r>
            <a:endParaRPr lang="en-US" sz="1300" dirty="0"/>
          </a:p>
        </p:txBody>
      </p:sp>
      <p:sp>
        <p:nvSpPr>
          <p:cNvPr id="10" name="Shape 8"/>
          <p:cNvSpPr/>
          <p:nvPr/>
        </p:nvSpPr>
        <p:spPr>
          <a:xfrm>
            <a:off x="731520" y="3328416"/>
            <a:ext cx="7498080" cy="548640"/>
          </a:xfrm>
          <a:prstGeom prst="rect">
            <a:avLst/>
          </a:prstGeom>
          <a:solidFill>
            <a:srgbClr val="DCFCE7"/>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Multi-level sequential (approval chain)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Full automation with post-facto audit</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801624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24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happens at 75% of SLA elapsed in a typical BFSI escalation policy?</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Auto-reject the approval</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Send first reminder to approver</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Escalate by adding manager as additional approver</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Reassign to backup approver</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25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happens at 75% of SLA elapsed in a typical BFSI escalation policy?</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Auto-reject the approval</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Send first reminder to approver</a:t>
            </a:r>
            <a:endParaRPr lang="en-US" sz="1300" dirty="0"/>
          </a:p>
        </p:txBody>
      </p:sp>
      <p:sp>
        <p:nvSpPr>
          <p:cNvPr id="10" name="Shape 8"/>
          <p:cNvSpPr/>
          <p:nvPr/>
        </p:nvSpPr>
        <p:spPr>
          <a:xfrm>
            <a:off x="731520" y="3328416"/>
            <a:ext cx="7498080" cy="548640"/>
          </a:xfrm>
          <a:prstGeom prst="rect">
            <a:avLst/>
          </a:prstGeom>
          <a:solidFill>
            <a:srgbClr val="DCFCE7"/>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Escalate by adding manager as additional approver</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Reassign to backup approver</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6918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26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What's Next?</a:t>
            </a:r>
            <a:endParaRPr lang="en-US" sz="3000" dirty="0"/>
          </a:p>
        </p:txBody>
      </p:sp>
      <p:sp>
        <p:nvSpPr>
          <p:cNvPr id="4" name="Text 2"/>
          <p:cNvSpPr/>
          <p:nvPr/>
        </p:nvSpPr>
        <p:spPr>
          <a:xfrm>
            <a:off x="640080" y="914400"/>
            <a:ext cx="7863840" cy="457200"/>
          </a:xfrm>
          <a:prstGeom prst="rect">
            <a:avLst/>
          </a:prstGeom>
          <a:noFill/>
          <a:ln/>
        </p:spPr>
        <p:txBody>
          <a:bodyPr wrap="square" rtlCol="0" anchor="ctr"/>
          <a:lstStyle/>
          <a:p>
            <a:pPr marL="0" indent="0">
              <a:buNone/>
            </a:pPr>
            <a:r>
              <a:rPr lang="en-US" sz="1800" b="1" dirty="0">
                <a:solidFill>
                  <a:srgbClr val="0891B2"/>
                </a:solidFill>
                <a:latin typeface="Segoe UI" pitchFamily="34" charset="0"/>
                <a:ea typeface="Segoe UI" pitchFamily="34" charset="-122"/>
                <a:cs typeface="Segoe UI" pitchFamily="34" charset="-120"/>
              </a:rPr>
              <a:t>Module 09: Multi-Agent Systems with Shared MCP Memory</a:t>
            </a:r>
            <a:endParaRPr lang="en-US" sz="1800" dirty="0"/>
          </a:p>
        </p:txBody>
      </p:sp>
      <p:sp>
        <p:nvSpPr>
          <p:cNvPr id="5" name="Shape 3"/>
          <p:cNvSpPr/>
          <p:nvPr/>
        </p:nvSpPr>
        <p:spPr>
          <a:xfrm>
            <a:off x="640080" y="1463040"/>
            <a:ext cx="7863840" cy="2560320"/>
          </a:xfrm>
          <a:prstGeom prst="rect">
            <a:avLst/>
          </a:prstGeom>
          <a:solidFill>
            <a:srgbClr val="F1F5F9"/>
          </a:solidFill>
          <a:ln/>
        </p:spPr>
        <p:txBody>
          <a:bodyPr/>
          <a:lstStyle/>
          <a:p>
            <a:endParaRPr lang="en-IN"/>
          </a:p>
        </p:txBody>
      </p:sp>
      <p:sp>
        <p:nvSpPr>
          <p:cNvPr id="6" name="Shape 4"/>
          <p:cNvSpPr/>
          <p:nvPr/>
        </p:nvSpPr>
        <p:spPr>
          <a:xfrm>
            <a:off x="640080" y="1463040"/>
            <a:ext cx="73152" cy="2560320"/>
          </a:xfrm>
          <a:prstGeom prst="rect">
            <a:avLst/>
          </a:prstGeom>
          <a:solidFill>
            <a:srgbClr val="0891B2"/>
          </a:solidFill>
          <a:ln/>
        </p:spPr>
        <p:txBody>
          <a:bodyPr/>
          <a:lstStyle/>
          <a:p>
            <a:endParaRPr lang="en-IN"/>
          </a:p>
        </p:txBody>
      </p:sp>
      <p:sp>
        <p:nvSpPr>
          <p:cNvPr id="7" name="Text 5"/>
          <p:cNvSpPr/>
          <p:nvPr/>
        </p:nvSpPr>
        <p:spPr>
          <a:xfrm>
            <a:off x="1005840" y="1600200"/>
            <a:ext cx="7223760" cy="228600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In Module 09, you'll move from single-agent architectures to multi-agent systems. You'll build:</a:t>
            </a:r>
            <a:endParaRPr lang="en-US" sz="1200" dirty="0"/>
          </a:p>
          <a:p>
            <a:pPr marL="0" indent="0">
              <a:buNone/>
            </a:pP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A parent orchestrator agent that coordinates specialised child agents</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Specialist agents: Claims Agent, Policy Agent, Customer Agent</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Shared Dataverse memory layer via MCP for cross-agent state</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Agent-to-agent communication and task delegation patterns</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Coordination patterns for complex BFSI operations spanning multiple domains</a:t>
            </a:r>
            <a:endParaRPr lang="en-US" sz="1200" dirty="0"/>
          </a:p>
          <a:p>
            <a:pPr marL="0" indent="0">
              <a:buNone/>
            </a:pP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The approval workflow you built here will integrate with the multi-agent system — the orchestrator will delegate claims to the Claims Agent, which will trigger approvals for high-value claims.</a:t>
            </a:r>
            <a:endParaRPr lang="en-US" sz="1200" dirty="0"/>
          </a:p>
        </p:txBody>
      </p:sp>
      <p:sp>
        <p:nvSpPr>
          <p:cNvPr id="8" name="Shape 6"/>
          <p:cNvSpPr/>
          <p:nvPr/>
        </p:nvSpPr>
        <p:spPr>
          <a:xfrm>
            <a:off x="640080" y="4160520"/>
            <a:ext cx="7863840" cy="457200"/>
          </a:xfrm>
          <a:prstGeom prst="rect">
            <a:avLst/>
          </a:prstGeom>
          <a:solidFill>
            <a:srgbClr val="FEF3C7"/>
          </a:solidFill>
          <a:ln/>
        </p:spPr>
        <p:txBody>
          <a:bodyPr/>
          <a:lstStyle/>
          <a:p>
            <a:endParaRPr lang="en-IN"/>
          </a:p>
        </p:txBody>
      </p:sp>
      <p:sp>
        <p:nvSpPr>
          <p:cNvPr id="9" name="Text 7"/>
          <p:cNvSpPr/>
          <p:nvPr/>
        </p:nvSpPr>
        <p:spPr>
          <a:xfrm>
            <a:off x="822960" y="4251960"/>
            <a:ext cx="7498080" cy="27432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Keep your approval workflow — you'll connect it to the multi-agent system in Module 09.</a:t>
            </a:r>
            <a:endParaRPr lang="en-US" sz="1100" dirty="0"/>
          </a:p>
        </p:txBody>
      </p:sp>
      <p:sp>
        <p:nvSpPr>
          <p:cNvPr id="10" name="Shape 8"/>
          <p:cNvSpPr/>
          <p:nvPr/>
        </p:nvSpPr>
        <p:spPr>
          <a:xfrm>
            <a:off x="0" y="4846320"/>
            <a:ext cx="9144000" cy="297180"/>
          </a:xfrm>
          <a:prstGeom prst="rect">
            <a:avLst/>
          </a:prstGeom>
          <a:solidFill>
            <a:srgbClr val="F1F5F9"/>
          </a:solidFill>
          <a:ln/>
        </p:spPr>
        <p:txBody>
          <a:bodyPr/>
          <a:lstStyle/>
          <a:p>
            <a:endParaRPr lang="en-IN"/>
          </a:p>
        </p:txBody>
      </p:sp>
      <p:sp>
        <p:nvSpPr>
          <p:cNvPr id="11" name="Text 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12" name="Text 10"/>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27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1828800"/>
            <a:ext cx="7315200" cy="731520"/>
          </a:xfrm>
          <a:prstGeom prst="rect">
            <a:avLst/>
          </a:prstGeom>
          <a:noFill/>
          <a:ln/>
        </p:spPr>
        <p:txBody>
          <a:bodyPr wrap="square" rtlCol="0" anchor="ctr"/>
          <a:lstStyle/>
          <a:p>
            <a:pPr marL="0" indent="0" algn="ctr">
              <a:buNone/>
            </a:pPr>
            <a:r>
              <a:rPr lang="en-US" sz="4200" b="1" dirty="0">
                <a:solidFill>
                  <a:srgbClr val="FFFFFF"/>
                </a:solidFill>
                <a:latin typeface="Segoe UI" pitchFamily="34" charset="0"/>
                <a:ea typeface="Segoe UI" pitchFamily="34" charset="-122"/>
                <a:cs typeface="Segoe UI" pitchFamily="34" charset="-120"/>
              </a:rPr>
              <a:t>Thank You</a:t>
            </a:r>
            <a:endParaRPr lang="en-US" sz="4200" dirty="0"/>
          </a:p>
        </p:txBody>
      </p:sp>
      <p:sp>
        <p:nvSpPr>
          <p:cNvPr id="5" name="Text 3"/>
          <p:cNvSpPr/>
          <p:nvPr/>
        </p:nvSpPr>
        <p:spPr>
          <a:xfrm>
            <a:off x="914400" y="2834640"/>
            <a:ext cx="7315200" cy="457200"/>
          </a:xfrm>
          <a:prstGeom prst="rect">
            <a:avLst/>
          </a:prstGeom>
          <a:noFill/>
          <a:ln/>
        </p:spPr>
        <p:txBody>
          <a:bodyPr wrap="square" rtlCol="0" anchor="ctr"/>
          <a:lstStyle/>
          <a:p>
            <a:pPr marL="0" indent="0" algn="ctr">
              <a:buNone/>
            </a:pPr>
            <a:r>
              <a:rPr lang="en-US" sz="1300" dirty="0">
                <a:solidFill>
                  <a:srgbClr val="94A3B8"/>
                </a:solidFill>
                <a:latin typeface="Segoe UI" pitchFamily="34" charset="0"/>
                <a:ea typeface="Segoe UI" pitchFamily="34" charset="-122"/>
                <a:cs typeface="Segoe UI" pitchFamily="34" charset="-120"/>
              </a:rPr>
              <a:t>Questions? Reach out to your instructor or post in the Teams channel.</a:t>
            </a:r>
            <a:endParaRPr lang="en-US" sz="1300" dirty="0"/>
          </a:p>
        </p:txBody>
      </p:sp>
      <p:sp>
        <p:nvSpPr>
          <p:cNvPr id="6" name="Text 4"/>
          <p:cNvSpPr/>
          <p:nvPr/>
        </p:nvSpPr>
        <p:spPr>
          <a:xfrm>
            <a:off x="914400" y="3840480"/>
            <a:ext cx="7315200" cy="365760"/>
          </a:xfrm>
          <a:prstGeom prst="rect">
            <a:avLst/>
          </a:prstGeom>
          <a:noFill/>
          <a:ln/>
        </p:spPr>
        <p:txBody>
          <a:bodyPr wrap="square" rtlCol="0" anchor="ctr"/>
          <a:lstStyle/>
          <a:p>
            <a:pPr marL="0" indent="0" algn="ctr">
              <a:buNone/>
            </a:pPr>
            <a:r>
              <a:rPr lang="en-US" sz="1100" dirty="0">
                <a:solidFill>
                  <a:srgbClr val="64748B"/>
                </a:solidFill>
                <a:latin typeface="Segoe UI" pitchFamily="34" charset="0"/>
                <a:ea typeface="Segoe UI" pitchFamily="34" charset="-122"/>
                <a:cs typeface="Segoe UI" pitchFamily="34" charset="-120"/>
              </a:rPr>
              <a:t>Module 08: Workflow Designer &amp; Human-in-the-Loop</a:t>
            </a:r>
            <a:endParaRPr lang="en-US" sz="1100" dirty="0"/>
          </a:p>
        </p:txBody>
      </p:sp>
      <p:sp>
        <p:nvSpPr>
          <p:cNvPr id="7" name="Text 19">
            <a:extLst>
              <a:ext uri="{FF2B5EF4-FFF2-40B4-BE49-F238E27FC236}">
                <a16:creationId xmlns:a16="http://schemas.microsoft.com/office/drawing/2014/main" id="{65256EA0-0B85-26F1-7D35-D86AF3FAC040}"/>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28 / 28</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36</TotalTime>
  <Words>5043</Words>
  <Application>Microsoft Office PowerPoint</Application>
  <PresentationFormat>On-screen Show (16:9)</PresentationFormat>
  <Paragraphs>381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08: Workflow Designer &amp; Human-in-the-Loop</dc:title>
  <dc:subject>Agentic AI in Power Platform</dc:subject>
  <dc:creator>EY Training</dc:creator>
  <cp:lastModifiedBy>Jalal Khan</cp:lastModifiedBy>
  <cp:revision>12</cp:revision>
  <dcterms:created xsi:type="dcterms:W3CDTF">2026-02-05T12:42:42Z</dcterms:created>
  <dcterms:modified xsi:type="dcterms:W3CDTF">2026-02-23T11:41:47Z</dcterms:modified>
</cp:coreProperties>
</file>